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1464469" y="871538"/>
            <a:ext cx="6215063" cy="3400425"/>
          </a:xfrm>
          <a:prstGeom prst="rect">
            <a:avLst/>
          </a:prstGeom>
          <a:solidFill>
            <a:srgbClr val="000000">
              <a:alpha val="0"/>
            </a:srgbClr>
          </a:solidFill>
          <a:ln w="27432">
            <a:solidFill>
              <a:srgbClr val="C9A646"/>
            </a:solidFill>
            <a:prstDash val="solid"/>
          </a:ln>
        </p:spPr>
      </p:sp>
      <p:sp>
        <p:nvSpPr>
          <p:cNvPr id="4" name="Text 1"/>
          <p:cNvSpPr/>
          <p:nvPr/>
        </p:nvSpPr>
        <p:spPr>
          <a:xfrm>
            <a:off x="2064544" y="1328738"/>
            <a:ext cx="5014913" cy="1107281"/>
          </a:xfrm>
          <a:prstGeom prst="rect">
            <a:avLst/>
          </a:prstGeom>
          <a:noFill/>
          <a:ln/>
        </p:spPr>
        <p:txBody>
          <a:bodyPr wrap="square" lIns="0" tIns="0" rIns="0" bIns="0" rtlCol="0" anchor="t">
            <a:spAutoFit/>
          </a:bodyPr>
          <a:lstStyle/>
          <a:p>
            <a:pPr algn="ctr" indent="0" marL="0">
              <a:buNone/>
            </a:pPr>
            <a:r>
              <a:rPr lang="en-US" sz="3300" b="1" spc="2" kern="0" dirty="0">
                <a:solidFill>
                  <a:srgbClr val="C9A646"/>
                </a:solidFill>
                <a:latin typeface="Inter Black" pitchFamily="34" charset="0"/>
                <a:ea typeface="Inter Black" pitchFamily="34" charset="-122"/>
                <a:cs typeface="Inter Black" pitchFamily="34" charset="-120"/>
              </a:rPr>
              <a:t>PRIME PATHWY</a:t>
            </a:r>
            <a:r>
              <a:rPr lang="en-US" sz="3300" b="1" spc="2" kern="0" dirty="0">
                <a:solidFill>
                  <a:srgbClr val="C9A646"/>
                </a:solidFill>
                <a:latin typeface="Inter Black" pitchFamily="34" charset="0"/>
                <a:ea typeface="Inter Black" pitchFamily="34" charset="-122"/>
                <a:cs typeface="Inter Black" pitchFamily="34" charset="-120"/>
              </a:rPr>
              <a:t>
</a:t>
            </a:r>
            <a:r>
              <a:rPr lang="en-US" sz="3300" b="1" spc="2" kern="0" dirty="0">
                <a:solidFill>
                  <a:srgbClr val="C9A646"/>
                </a:solidFill>
                <a:latin typeface="Inter Black" pitchFamily="34" charset="0"/>
                <a:ea typeface="Inter Black" pitchFamily="34" charset="-122"/>
                <a:cs typeface="Inter Black" pitchFamily="34" charset="-120"/>
              </a:rPr>
              <a:t>SOVEREIGN SYSTEM</a:t>
            </a:r>
            <a:endParaRPr lang="en-US" sz="3300" dirty="0"/>
          </a:p>
        </p:txBody>
      </p:sp>
      <p:sp>
        <p:nvSpPr>
          <p:cNvPr id="5" name="Text 2"/>
          <p:cNvSpPr/>
          <p:nvPr/>
        </p:nvSpPr>
        <p:spPr>
          <a:xfrm>
            <a:off x="2064544" y="2578894"/>
            <a:ext cx="5014913" cy="276820"/>
          </a:xfrm>
          <a:prstGeom prst="rect">
            <a:avLst/>
          </a:prstGeom>
          <a:noFill/>
          <a:ln/>
        </p:spPr>
        <p:txBody>
          <a:bodyPr wrap="square" lIns="0" tIns="0" rIns="0" bIns="0" rtlCol="0" anchor="t">
            <a:spAutoFit/>
          </a:bodyPr>
          <a:lstStyle/>
          <a:p>
            <a:pPr algn="ctr" indent="0" marL="0">
              <a:buNone/>
            </a:pPr>
            <a:r>
              <a:rPr lang="en-US" sz="1600" b="1" dirty="0">
                <a:solidFill>
                  <a:srgbClr val="FFFFFF"/>
                </a:solidFill>
                <a:latin typeface="Inter Bold" pitchFamily="34" charset="0"/>
                <a:ea typeface="Inter Bold" pitchFamily="34" charset="-122"/>
                <a:cs typeface="Inter Bold" pitchFamily="34" charset="-120"/>
              </a:rPr>
              <a:t>Manus Master Credit Maximization System</a:t>
            </a:r>
            <a:endParaRPr lang="en-US" sz="1600" dirty="0"/>
          </a:p>
        </p:txBody>
      </p:sp>
      <p:sp>
        <p:nvSpPr>
          <p:cNvPr id="6" name="Text 3"/>
          <p:cNvSpPr/>
          <p:nvPr/>
        </p:nvSpPr>
        <p:spPr>
          <a:xfrm>
            <a:off x="2064544" y="2927152"/>
            <a:ext cx="5014913" cy="207169"/>
          </a:xfrm>
          <a:prstGeom prst="rect">
            <a:avLst/>
          </a:prstGeom>
          <a:noFill/>
          <a:ln/>
        </p:spPr>
        <p:txBody>
          <a:bodyPr wrap="square" lIns="0" tIns="0" rIns="0" bIns="0" rtlCol="0" anchor="t">
            <a:spAutoFit/>
          </a:bodyPr>
          <a:lstStyle/>
          <a:p>
            <a:pPr algn="ctr" indent="0" marL="0">
              <a:buNone/>
            </a:pPr>
            <a:r>
              <a:rPr lang="en-US" sz="1250" dirty="0">
                <a:solidFill>
                  <a:srgbClr val="A0A0A0"/>
                </a:solidFill>
                <a:latin typeface="Inter" pitchFamily="34" charset="0"/>
                <a:ea typeface="Inter" pitchFamily="34" charset="-122"/>
                <a:cs typeface="Inter" pitchFamily="34" charset="-120"/>
              </a:rPr>
              <a:t>10–20 Year Institutional Intelligence Architecture</a:t>
            </a:r>
            <a:endParaRPr lang="en-US" sz="1250" dirty="0"/>
          </a:p>
        </p:txBody>
      </p:sp>
      <p:sp>
        <p:nvSpPr>
          <p:cNvPr id="7" name="Text 4"/>
          <p:cNvSpPr/>
          <p:nvPr/>
        </p:nvSpPr>
        <p:spPr>
          <a:xfrm>
            <a:off x="2064544" y="3641527"/>
            <a:ext cx="3264694" cy="173236"/>
          </a:xfrm>
          <a:prstGeom prst="rect">
            <a:avLst/>
          </a:prstGeom>
          <a:noFill/>
          <a:ln/>
        </p:spPr>
        <p:txBody>
          <a:bodyPr wrap="square" lIns="0" tIns="0" rIns="0" bIns="0"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Arthur F. Appling Sr. · Lead Technical Architect</a:t>
            </a:r>
            <a:endParaRPr lang="en-US" sz="1000" dirty="0"/>
          </a:p>
        </p:txBody>
      </p:sp>
      <p:sp>
        <p:nvSpPr>
          <p:cNvPr id="8" name="Text 5"/>
          <p:cNvSpPr/>
          <p:nvPr/>
        </p:nvSpPr>
        <p:spPr>
          <a:xfrm>
            <a:off x="6397228" y="3641527"/>
            <a:ext cx="682228" cy="173236"/>
          </a:xfrm>
          <a:prstGeom prst="rect">
            <a:avLst/>
          </a:prstGeom>
          <a:noFill/>
          <a:ln/>
        </p:spPr>
        <p:txBody>
          <a:bodyPr wrap="none" lIns="0" tIns="0" rIns="0" bIns="0" rtlCol="0" anchor="t">
            <a:spAutoFit/>
          </a:bodyPr>
          <a:lstStyle/>
          <a:p>
            <a:pPr algn="ctr" indent="0" marL="0">
              <a:buNone/>
            </a:pPr>
            <a:r>
              <a:rPr lang="en-US" sz="1050" dirty="0">
                <a:solidFill>
                  <a:srgbClr val="FFFFFF"/>
                </a:solidFill>
                <a:latin typeface="Inter" pitchFamily="34" charset="0"/>
                <a:ea typeface="Inter" pitchFamily="34" charset="-122"/>
                <a:cs typeface="Inter" pitchFamily="34" charset="-120"/>
              </a:rPr>
              <a:t>May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Every Credit Must Produce Permanent Infrastructure — Not Temporary Output</a:t>
            </a:r>
            <a:endParaRPr lang="en-US" sz="2450" dirty="0"/>
          </a:p>
        </p:txBody>
      </p:sp>
      <p:sp>
        <p:nvSpPr>
          <p:cNvPr id="6" name="Text 3"/>
          <p:cNvSpPr/>
          <p:nvPr/>
        </p:nvSpPr>
        <p:spPr>
          <a:xfrm>
            <a:off x="571500" y="1480152"/>
            <a:ext cx="8001000" cy="1371544"/>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The Manus Master System is built on a single governing principle: institutional memory compounds. Tools will change. Models will change. Platforms will change. But documented systems, indexed intelligence, SOPs, recovery procedures, and governance frameworks continue delivering operational leverage for decades. This system converts AI credits into permanent business infrastructure across five sovereign domains.</a:t>
            </a:r>
            <a:endParaRPr lang="en-US" sz="1250" dirty="0"/>
          </a:p>
        </p:txBody>
      </p:sp>
      <p:sp>
        <p:nvSpPr>
          <p:cNvPr id="7" name="Shape 4"/>
          <p:cNvSpPr/>
          <p:nvPr/>
        </p:nvSpPr>
        <p:spPr>
          <a:xfrm>
            <a:off x="571500" y="2994571"/>
            <a:ext cx="8001000" cy="1946672"/>
          </a:xfrm>
          <a:prstGeom prst="rect">
            <a:avLst/>
          </a:prstGeom>
          <a:solidFill>
            <a:srgbClr val="000000">
              <a:alpha val="0"/>
            </a:srgbClr>
          </a:solidFill>
          <a:ln w="18288">
            <a:solidFill>
              <a:srgbClr val="C9A646"/>
            </a:solidFill>
            <a:prstDash val="solid"/>
          </a:ln>
        </p:spPr>
      </p:sp>
      <p:sp>
        <p:nvSpPr>
          <p:cNvPr id="8" name="Shape 5"/>
          <p:cNvSpPr/>
          <p:nvPr/>
        </p:nvSpPr>
        <p:spPr>
          <a:xfrm>
            <a:off x="571500" y="2994571"/>
            <a:ext cx="3248732" cy="364331"/>
          </a:xfrm>
          <a:prstGeom prst="rect">
            <a:avLst/>
          </a:prstGeom>
          <a:solidFill>
            <a:srgbClr val="1A1A1A"/>
          </a:solidFill>
          <a:ln/>
        </p:spPr>
      </p:sp>
      <p:sp>
        <p:nvSpPr>
          <p:cNvPr id="9" name="Shape 6"/>
          <p:cNvSpPr/>
          <p:nvPr/>
        </p:nvSpPr>
        <p:spPr>
          <a:xfrm>
            <a:off x="3805944" y="2994571"/>
            <a:ext cx="14288" cy="364331"/>
          </a:xfrm>
          <a:prstGeom prst="rect">
            <a:avLst/>
          </a:prstGeom>
          <a:solidFill>
            <a:srgbClr val="C9A646"/>
          </a:solidFill>
          <a:ln/>
        </p:spPr>
      </p:sp>
      <p:sp>
        <p:nvSpPr>
          <p:cNvPr id="10" name="Shape 7"/>
          <p:cNvSpPr/>
          <p:nvPr/>
        </p:nvSpPr>
        <p:spPr>
          <a:xfrm>
            <a:off x="571500" y="3344614"/>
            <a:ext cx="3248732" cy="14288"/>
          </a:xfrm>
          <a:prstGeom prst="rect">
            <a:avLst/>
          </a:prstGeom>
          <a:solidFill>
            <a:srgbClr val="C9A646"/>
          </a:solidFill>
          <a:ln/>
        </p:spPr>
      </p:sp>
      <p:sp>
        <p:nvSpPr>
          <p:cNvPr id="11" name="Text 8"/>
          <p:cNvSpPr/>
          <p:nvPr/>
        </p:nvSpPr>
        <p:spPr>
          <a:xfrm>
            <a:off x="571500" y="2994571"/>
            <a:ext cx="3248732" cy="364331"/>
          </a:xfrm>
          <a:prstGeom prst="rect">
            <a:avLst/>
          </a:prstGeom>
          <a:noFill/>
          <a:ln/>
        </p:spPr>
        <p:txBody>
          <a:bodyPr wrap="square" lIns="102108" tIns="68072" rIns="102108" bIns="68072" rtlCol="0" anchor="ctr">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DO NOT USE FOR</a:t>
            </a:r>
            <a:endParaRPr lang="en-US" sz="1400" dirty="0"/>
          </a:p>
        </p:txBody>
      </p:sp>
      <p:sp>
        <p:nvSpPr>
          <p:cNvPr id="12" name="Shape 9"/>
          <p:cNvSpPr/>
          <p:nvPr/>
        </p:nvSpPr>
        <p:spPr>
          <a:xfrm>
            <a:off x="3820232" y="2994571"/>
            <a:ext cx="4752268" cy="364331"/>
          </a:xfrm>
          <a:prstGeom prst="rect">
            <a:avLst/>
          </a:prstGeom>
          <a:solidFill>
            <a:srgbClr val="1A1A1A"/>
          </a:solidFill>
          <a:ln/>
        </p:spPr>
      </p:sp>
      <p:sp>
        <p:nvSpPr>
          <p:cNvPr id="13" name="Shape 10"/>
          <p:cNvSpPr/>
          <p:nvPr/>
        </p:nvSpPr>
        <p:spPr>
          <a:xfrm>
            <a:off x="3820232" y="3344614"/>
            <a:ext cx="4752268" cy="14288"/>
          </a:xfrm>
          <a:prstGeom prst="rect">
            <a:avLst/>
          </a:prstGeom>
          <a:solidFill>
            <a:srgbClr val="C9A646"/>
          </a:solidFill>
          <a:ln/>
        </p:spPr>
      </p:sp>
      <p:sp>
        <p:nvSpPr>
          <p:cNvPr id="14" name="Text 11"/>
          <p:cNvSpPr/>
          <p:nvPr/>
        </p:nvSpPr>
        <p:spPr>
          <a:xfrm>
            <a:off x="3820232" y="2994571"/>
            <a:ext cx="4752268" cy="364331"/>
          </a:xfrm>
          <a:prstGeom prst="rect">
            <a:avLst/>
          </a:prstGeom>
          <a:noFill/>
          <a:ln/>
        </p:spPr>
        <p:txBody>
          <a:bodyPr wrap="square" lIns="102108" tIns="68072" rIns="102108" bIns="68072" rtlCol="0" anchor="ctr">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DO USE FOR</a:t>
            </a:r>
            <a:endParaRPr lang="en-US" sz="1400" dirty="0"/>
          </a:p>
        </p:txBody>
      </p:sp>
      <p:sp>
        <p:nvSpPr>
          <p:cNvPr id="15" name="Text 12"/>
          <p:cNvSpPr/>
          <p:nvPr/>
        </p:nvSpPr>
        <p:spPr>
          <a:xfrm>
            <a:off x="571500" y="3351758"/>
            <a:ext cx="3248732" cy="307181"/>
          </a:xfrm>
          <a:prstGeom prst="rect">
            <a:avLst/>
          </a:prstGeom>
          <a:noFill/>
          <a:ln/>
        </p:spPr>
        <p:txBody>
          <a:bodyPr wrap="square" lIns="102108" tIns="68072" rIns="102108" bIns="68072" rtlCol="0" anchor="ctr">
            <a:spAutoFit/>
          </a:bodyPr>
          <a:lstStyle/>
          <a:p>
            <a:pPr algn="l" indent="0" marL="0">
              <a:buNone/>
            </a:pPr>
            <a:r>
              <a:rPr lang="en-US" sz="1150" dirty="0">
                <a:solidFill>
                  <a:srgbClr val="FF6B6B"/>
                </a:solidFill>
                <a:latin typeface="Inter" pitchFamily="34" charset="0"/>
                <a:ea typeface="Inter" pitchFamily="34" charset="-122"/>
                <a:cs typeface="Inter" pitchFamily="34" charset="-120"/>
              </a:rPr>
              <a:t>Random experiments</a:t>
            </a:r>
            <a:endParaRPr lang="en-US" sz="1150" dirty="0"/>
          </a:p>
        </p:txBody>
      </p:sp>
      <p:sp>
        <p:nvSpPr>
          <p:cNvPr id="16" name="Text 13"/>
          <p:cNvSpPr/>
          <p:nvPr/>
        </p:nvSpPr>
        <p:spPr>
          <a:xfrm>
            <a:off x="3820232" y="3351758"/>
            <a:ext cx="4752268" cy="307181"/>
          </a:xfrm>
          <a:prstGeom prst="rect">
            <a:avLst/>
          </a:prstGeom>
          <a:noFill/>
          <a:ln/>
        </p:spPr>
        <p:txBody>
          <a:bodyPr wrap="square" lIns="102108" tIns="68072" rIns="102108" bIns="68072" rtlCol="0" anchor="ctr">
            <a:spAutoFit/>
          </a:bodyPr>
          <a:lstStyle/>
          <a:p>
            <a:pPr algn="l" indent="0" marL="0">
              <a:buNone/>
            </a:pPr>
            <a:r>
              <a:rPr lang="en-US" sz="1150" dirty="0">
                <a:solidFill>
                  <a:srgbClr val="A8D5BA"/>
                </a:solidFill>
                <a:latin typeface="Inter" pitchFamily="34" charset="0"/>
                <a:ea typeface="Inter" pitchFamily="34" charset="-122"/>
                <a:cs typeface="Inter" pitchFamily="34" charset="-120"/>
              </a:rPr>
              <a:t>Structured institutional intelligence</a:t>
            </a:r>
            <a:endParaRPr lang="en-US" sz="1150" dirty="0"/>
          </a:p>
        </p:txBody>
      </p:sp>
      <p:sp>
        <p:nvSpPr>
          <p:cNvPr id="17" name="Text 14"/>
          <p:cNvSpPr/>
          <p:nvPr/>
        </p:nvSpPr>
        <p:spPr>
          <a:xfrm>
            <a:off x="571500" y="3658939"/>
            <a:ext cx="3248732"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FF6B6B"/>
                </a:solidFill>
                <a:latin typeface="Inter" pitchFamily="34" charset="0"/>
                <a:ea typeface="Inter" pitchFamily="34" charset="-122"/>
                <a:cs typeface="Inter" pitchFamily="34" charset="-120"/>
              </a:rPr>
              <a:t>Generic brainstorming</a:t>
            </a:r>
            <a:endParaRPr lang="en-US" sz="1150" dirty="0"/>
          </a:p>
        </p:txBody>
      </p:sp>
      <p:sp>
        <p:nvSpPr>
          <p:cNvPr id="18" name="Text 15"/>
          <p:cNvSpPr/>
          <p:nvPr/>
        </p:nvSpPr>
        <p:spPr>
          <a:xfrm>
            <a:off x="3820232" y="3658939"/>
            <a:ext cx="4752268"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A8D5BA"/>
                </a:solidFill>
                <a:latin typeface="Inter" pitchFamily="34" charset="0"/>
                <a:ea typeface="Inter" pitchFamily="34" charset="-122"/>
                <a:cs typeface="Inter" pitchFamily="34" charset="-120"/>
              </a:rPr>
              <a:t>Permanent operating systems</a:t>
            </a:r>
            <a:endParaRPr lang="en-US" sz="1150" dirty="0"/>
          </a:p>
        </p:txBody>
      </p:sp>
      <p:sp>
        <p:nvSpPr>
          <p:cNvPr id="19" name="Text 16"/>
          <p:cNvSpPr/>
          <p:nvPr/>
        </p:nvSpPr>
        <p:spPr>
          <a:xfrm>
            <a:off x="571500" y="3969693"/>
            <a:ext cx="3248732"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FF6B6B"/>
                </a:solidFill>
                <a:latin typeface="Inter" pitchFamily="34" charset="0"/>
                <a:ea typeface="Inter" pitchFamily="34" charset="-122"/>
                <a:cs typeface="Inter" pitchFamily="34" charset="-120"/>
              </a:rPr>
              <a:t>Motivational content</a:t>
            </a:r>
            <a:endParaRPr lang="en-US" sz="1150" dirty="0"/>
          </a:p>
        </p:txBody>
      </p:sp>
      <p:sp>
        <p:nvSpPr>
          <p:cNvPr id="20" name="Text 17"/>
          <p:cNvSpPr/>
          <p:nvPr/>
        </p:nvSpPr>
        <p:spPr>
          <a:xfrm>
            <a:off x="3820232" y="3969693"/>
            <a:ext cx="4752268"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A8D5BA"/>
                </a:solidFill>
                <a:latin typeface="Inter" pitchFamily="34" charset="0"/>
                <a:ea typeface="Inter" pitchFamily="34" charset="-122"/>
                <a:cs typeface="Inter" pitchFamily="34" charset="-120"/>
              </a:rPr>
              <a:t>Indexed knowledge bases</a:t>
            </a:r>
            <a:endParaRPr lang="en-US" sz="1150" dirty="0"/>
          </a:p>
        </p:txBody>
      </p:sp>
      <p:sp>
        <p:nvSpPr>
          <p:cNvPr id="21" name="Text 18"/>
          <p:cNvSpPr/>
          <p:nvPr/>
        </p:nvSpPr>
        <p:spPr>
          <a:xfrm>
            <a:off x="571500" y="4280446"/>
            <a:ext cx="3248732"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FF6B6B"/>
                </a:solidFill>
                <a:latin typeface="Inter" pitchFamily="34" charset="0"/>
                <a:ea typeface="Inter" pitchFamily="34" charset="-122"/>
                <a:cs typeface="Inter" pitchFamily="34" charset="-120"/>
              </a:rPr>
              <a:t>Shallow summaries</a:t>
            </a:r>
            <a:endParaRPr lang="en-US" sz="1150" dirty="0"/>
          </a:p>
        </p:txBody>
      </p:sp>
      <p:sp>
        <p:nvSpPr>
          <p:cNvPr id="22" name="Text 19"/>
          <p:cNvSpPr/>
          <p:nvPr/>
        </p:nvSpPr>
        <p:spPr>
          <a:xfrm>
            <a:off x="3820232" y="4280446"/>
            <a:ext cx="4752268"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A8D5BA"/>
                </a:solidFill>
                <a:latin typeface="Inter" pitchFamily="34" charset="0"/>
                <a:ea typeface="Inter" pitchFamily="34" charset="-122"/>
                <a:cs typeface="Inter" pitchFamily="34" charset="-120"/>
              </a:rPr>
              <a:t>SOP generation &amp; recovery systems</a:t>
            </a:r>
            <a:endParaRPr lang="en-US" sz="1150" dirty="0"/>
          </a:p>
        </p:txBody>
      </p:sp>
      <p:sp>
        <p:nvSpPr>
          <p:cNvPr id="23" name="Text 20"/>
          <p:cNvSpPr/>
          <p:nvPr/>
        </p:nvSpPr>
        <p:spPr>
          <a:xfrm>
            <a:off x="571500" y="4591199"/>
            <a:ext cx="3248732" cy="307181"/>
          </a:xfrm>
          <a:prstGeom prst="rect">
            <a:avLst/>
          </a:prstGeom>
          <a:noFill/>
          <a:ln/>
        </p:spPr>
        <p:txBody>
          <a:bodyPr wrap="square" lIns="102108" tIns="68072" rIns="102108" bIns="68072" rtlCol="0" anchor="ctr">
            <a:spAutoFit/>
          </a:bodyPr>
          <a:lstStyle/>
          <a:p>
            <a:pPr algn="l" indent="0" marL="0">
              <a:buNone/>
            </a:pPr>
            <a:r>
              <a:rPr lang="en-US" sz="1150" dirty="0">
                <a:solidFill>
                  <a:srgbClr val="FF6B6B"/>
                </a:solidFill>
                <a:latin typeface="Inter" pitchFamily="34" charset="0"/>
                <a:ea typeface="Inter" pitchFamily="34" charset="-122"/>
                <a:cs typeface="Inter" pitchFamily="34" charset="-120"/>
              </a:rPr>
              <a:t>Duplicated internet research</a:t>
            </a:r>
            <a:endParaRPr lang="en-US" sz="1150" dirty="0"/>
          </a:p>
        </p:txBody>
      </p:sp>
      <p:sp>
        <p:nvSpPr>
          <p:cNvPr id="24" name="Text 21"/>
          <p:cNvSpPr/>
          <p:nvPr/>
        </p:nvSpPr>
        <p:spPr>
          <a:xfrm>
            <a:off x="3820232" y="4591199"/>
            <a:ext cx="4752268" cy="307181"/>
          </a:xfrm>
          <a:prstGeom prst="rect">
            <a:avLst/>
          </a:prstGeom>
          <a:noFill/>
          <a:ln/>
        </p:spPr>
        <p:txBody>
          <a:bodyPr wrap="square" lIns="102108" tIns="68072" rIns="102108" bIns="68072" rtlCol="0" anchor="ctr">
            <a:spAutoFit/>
          </a:bodyPr>
          <a:lstStyle/>
          <a:p>
            <a:pPr algn="l" indent="0" marL="0">
              <a:buNone/>
            </a:pPr>
            <a:r>
              <a:rPr lang="en-US" sz="1150" dirty="0">
                <a:solidFill>
                  <a:srgbClr val="A8D5BA"/>
                </a:solidFill>
                <a:latin typeface="Inter" pitchFamily="34" charset="0"/>
                <a:ea typeface="Inter" pitchFamily="34" charset="-122"/>
                <a:cs typeface="Inter" pitchFamily="34" charset="-120"/>
              </a:rPr>
              <a:t>Legal, compliance &amp; automation structures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The WAT Framework Is the Structural Law of the Prime Pathwy Ecosystem</a:t>
            </a:r>
            <a:endParaRPr lang="en-US" sz="2450" dirty="0"/>
          </a:p>
        </p:txBody>
      </p:sp>
      <p:sp>
        <p:nvSpPr>
          <p:cNvPr id="6" name="Text 3"/>
          <p:cNvSpPr/>
          <p:nvPr/>
        </p:nvSpPr>
        <p:spPr>
          <a:xfrm>
            <a:off x="571500" y="1480152"/>
            <a:ext cx="80010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All outputs generated by this system are organized under the WAT Framework — the non-negotiable file governance standard for Prime Pathwy operations. Temporary data is isolated to prevent contamination of the permanent record.</a:t>
            </a:r>
            <a:endParaRPr lang="en-US" sz="1250" dirty="0"/>
          </a:p>
        </p:txBody>
      </p:sp>
      <p:sp>
        <p:nvSpPr>
          <p:cNvPr id="7" name="Shape 4"/>
          <p:cNvSpPr/>
          <p:nvPr/>
        </p:nvSpPr>
        <p:spPr>
          <a:xfrm>
            <a:off x="571500" y="2517391"/>
            <a:ext cx="8001000" cy="2554672"/>
          </a:xfrm>
          <a:prstGeom prst="rect">
            <a:avLst/>
          </a:prstGeom>
          <a:solidFill>
            <a:srgbClr val="000000">
              <a:alpha val="0"/>
            </a:srgbClr>
          </a:solidFill>
          <a:ln w="54864">
            <a:solidFill>
              <a:srgbClr val="C9A646"/>
            </a:solidFill>
            <a:prstDash val="solid"/>
          </a:ln>
        </p:spPr>
      </p:sp>
      <p:sp>
        <p:nvSpPr>
          <p:cNvPr id="8" name="Shape 5"/>
          <p:cNvSpPr/>
          <p:nvPr/>
        </p:nvSpPr>
        <p:spPr>
          <a:xfrm>
            <a:off x="571500" y="2517391"/>
            <a:ext cx="4000500" cy="1277336"/>
          </a:xfrm>
          <a:prstGeom prst="rect">
            <a:avLst/>
          </a:prstGeom>
          <a:solidFill>
            <a:srgbClr val="111111"/>
          </a:solidFill>
          <a:ln w="18288">
            <a:solidFill>
              <a:srgbClr val="C9A646"/>
            </a:solidFill>
            <a:prstDash val="solid"/>
          </a:ln>
        </p:spPr>
      </p:sp>
      <p:sp>
        <p:nvSpPr>
          <p:cNvPr id="9" name="Text 6"/>
          <p:cNvSpPr/>
          <p:nvPr/>
        </p:nvSpPr>
        <p:spPr>
          <a:xfrm>
            <a:off x="628650" y="2574541"/>
            <a:ext cx="3886200" cy="276820"/>
          </a:xfrm>
          <a:prstGeom prst="rect">
            <a:avLst/>
          </a:prstGeom>
          <a:noFill/>
          <a:ln/>
        </p:spPr>
        <p:txBody>
          <a:bodyPr wrap="square" lIns="0" tIns="0" rIns="0" bIns="0" rtlCol="0" anchor="t">
            <a:spAutoFit/>
          </a:bodyPr>
          <a:lstStyle/>
          <a:p>
            <a:pPr algn="l" indent="0" marL="0">
              <a:buNone/>
            </a:pPr>
            <a:r>
              <a:rPr lang="en-US" sz="1600" b="1" dirty="0">
                <a:solidFill>
                  <a:srgbClr val="C9A646"/>
                </a:solidFill>
                <a:latin typeface="Inter Black" pitchFamily="34" charset="0"/>
                <a:ea typeface="Inter Black" pitchFamily="34" charset="-122"/>
                <a:cs typeface="Inter Black" pitchFamily="34" charset="-120"/>
              </a:rPr>
              <a:t>WORKFLOWS</a:t>
            </a:r>
            <a:endParaRPr lang="en-US" sz="1600" dirty="0"/>
          </a:p>
        </p:txBody>
      </p:sp>
      <p:sp>
        <p:nvSpPr>
          <p:cNvPr id="10" name="Text 7"/>
          <p:cNvSpPr/>
          <p:nvPr/>
        </p:nvSpPr>
        <p:spPr>
          <a:xfrm>
            <a:off x="628650" y="2908511"/>
            <a:ext cx="38862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/workflows</a:t>
            </a:r>
            <a:endParaRPr lang="en-US" sz="1050" dirty="0"/>
          </a:p>
        </p:txBody>
      </p:sp>
      <p:sp>
        <p:nvSpPr>
          <p:cNvPr id="11" name="Text 8"/>
          <p:cNvSpPr/>
          <p:nvPr/>
        </p:nvSpPr>
        <p:spPr>
          <a:xfrm>
            <a:off x="628650" y="3174616"/>
            <a:ext cx="38862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Step-by-step execution procedures (.md). Defines the operational logic and validation contracts.</a:t>
            </a:r>
            <a:endParaRPr lang="en-US" sz="1050" dirty="0"/>
          </a:p>
        </p:txBody>
      </p:sp>
      <p:sp>
        <p:nvSpPr>
          <p:cNvPr id="12" name="Shape 9"/>
          <p:cNvSpPr/>
          <p:nvPr/>
        </p:nvSpPr>
        <p:spPr>
          <a:xfrm>
            <a:off x="4572000" y="2517391"/>
            <a:ext cx="4000500" cy="1277336"/>
          </a:xfrm>
          <a:prstGeom prst="rect">
            <a:avLst/>
          </a:prstGeom>
          <a:solidFill>
            <a:srgbClr val="111111"/>
          </a:solidFill>
          <a:ln w="18288">
            <a:solidFill>
              <a:srgbClr val="C9A646"/>
            </a:solidFill>
            <a:prstDash val="solid"/>
          </a:ln>
        </p:spPr>
      </p:sp>
      <p:sp>
        <p:nvSpPr>
          <p:cNvPr id="13" name="Text 10"/>
          <p:cNvSpPr/>
          <p:nvPr/>
        </p:nvSpPr>
        <p:spPr>
          <a:xfrm>
            <a:off x="4629150" y="2574541"/>
            <a:ext cx="3886200" cy="276820"/>
          </a:xfrm>
          <a:prstGeom prst="rect">
            <a:avLst/>
          </a:prstGeom>
          <a:noFill/>
          <a:ln/>
        </p:spPr>
        <p:txBody>
          <a:bodyPr wrap="square" lIns="0" tIns="0" rIns="0" bIns="0" rtlCol="0" anchor="t">
            <a:spAutoFit/>
          </a:bodyPr>
          <a:lstStyle/>
          <a:p>
            <a:pPr algn="l" indent="0" marL="0">
              <a:buNone/>
            </a:pPr>
            <a:r>
              <a:rPr lang="en-US" sz="1600" b="1" dirty="0">
                <a:solidFill>
                  <a:srgbClr val="C9A646"/>
                </a:solidFill>
                <a:latin typeface="Inter Black" pitchFamily="34" charset="0"/>
                <a:ea typeface="Inter Black" pitchFamily="34" charset="-122"/>
                <a:cs typeface="Inter Black" pitchFamily="34" charset="-120"/>
              </a:rPr>
              <a:t>AGENTS</a:t>
            </a:r>
            <a:endParaRPr lang="en-US" sz="1600" dirty="0"/>
          </a:p>
        </p:txBody>
      </p:sp>
      <p:sp>
        <p:nvSpPr>
          <p:cNvPr id="14" name="Text 11"/>
          <p:cNvSpPr/>
          <p:nvPr/>
        </p:nvSpPr>
        <p:spPr>
          <a:xfrm>
            <a:off x="4629150" y="2908511"/>
            <a:ext cx="38862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/agents</a:t>
            </a:r>
            <a:endParaRPr lang="en-US" sz="1050" dirty="0"/>
          </a:p>
        </p:txBody>
      </p:sp>
      <p:sp>
        <p:nvSpPr>
          <p:cNvPr id="15" name="Text 12"/>
          <p:cNvSpPr/>
          <p:nvPr/>
        </p:nvSpPr>
        <p:spPr>
          <a:xfrm>
            <a:off x="4629150" y="3174616"/>
            <a:ext cx="38862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AI prompt instructions (.md). The cognitive engine driving the execution of specific tasks.</a:t>
            </a:r>
            <a:endParaRPr lang="en-US" sz="1050" dirty="0"/>
          </a:p>
        </p:txBody>
      </p:sp>
      <p:sp>
        <p:nvSpPr>
          <p:cNvPr id="16" name="Shape 13"/>
          <p:cNvSpPr/>
          <p:nvPr/>
        </p:nvSpPr>
        <p:spPr>
          <a:xfrm>
            <a:off x="571500" y="3794727"/>
            <a:ext cx="4000500" cy="1277336"/>
          </a:xfrm>
          <a:prstGeom prst="rect">
            <a:avLst/>
          </a:prstGeom>
          <a:solidFill>
            <a:srgbClr val="111111"/>
          </a:solidFill>
          <a:ln w="18288">
            <a:solidFill>
              <a:srgbClr val="C9A646"/>
            </a:solidFill>
            <a:prstDash val="solid"/>
          </a:ln>
        </p:spPr>
      </p:sp>
      <p:sp>
        <p:nvSpPr>
          <p:cNvPr id="17" name="Text 14"/>
          <p:cNvSpPr/>
          <p:nvPr/>
        </p:nvSpPr>
        <p:spPr>
          <a:xfrm>
            <a:off x="628650" y="3851877"/>
            <a:ext cx="3886200" cy="276820"/>
          </a:xfrm>
          <a:prstGeom prst="rect">
            <a:avLst/>
          </a:prstGeom>
          <a:noFill/>
          <a:ln/>
        </p:spPr>
        <p:txBody>
          <a:bodyPr wrap="square" lIns="0" tIns="0" rIns="0" bIns="0" rtlCol="0" anchor="t">
            <a:spAutoFit/>
          </a:bodyPr>
          <a:lstStyle/>
          <a:p>
            <a:pPr algn="l" indent="0" marL="0">
              <a:buNone/>
            </a:pPr>
            <a:r>
              <a:rPr lang="en-US" sz="1600" b="1" dirty="0">
                <a:solidFill>
                  <a:srgbClr val="C9A646"/>
                </a:solidFill>
                <a:latin typeface="Inter Black" pitchFamily="34" charset="0"/>
                <a:ea typeface="Inter Black" pitchFamily="34" charset="-122"/>
                <a:cs typeface="Inter Black" pitchFamily="34" charset="-120"/>
              </a:rPr>
              <a:t>TOOLS</a:t>
            </a:r>
            <a:endParaRPr lang="en-US" sz="1600" dirty="0"/>
          </a:p>
        </p:txBody>
      </p:sp>
      <p:sp>
        <p:nvSpPr>
          <p:cNvPr id="18" name="Text 15"/>
          <p:cNvSpPr/>
          <p:nvPr/>
        </p:nvSpPr>
        <p:spPr>
          <a:xfrm>
            <a:off x="628650" y="4185847"/>
            <a:ext cx="38862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/tools</a:t>
            </a:r>
            <a:endParaRPr lang="en-US" sz="1050" dirty="0"/>
          </a:p>
        </p:txBody>
      </p:sp>
      <p:sp>
        <p:nvSpPr>
          <p:cNvPr id="19" name="Text 16"/>
          <p:cNvSpPr/>
          <p:nvPr/>
        </p:nvSpPr>
        <p:spPr>
          <a:xfrm>
            <a:off x="628650" y="4451952"/>
            <a:ext cx="38862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Python scripts and automation code (.py). The mechanical execution layer of the sovereign system.</a:t>
            </a:r>
            <a:endParaRPr lang="en-US" sz="1050" dirty="0"/>
          </a:p>
        </p:txBody>
      </p:sp>
      <p:sp>
        <p:nvSpPr>
          <p:cNvPr id="20" name="Shape 17"/>
          <p:cNvSpPr/>
          <p:nvPr/>
        </p:nvSpPr>
        <p:spPr>
          <a:xfrm>
            <a:off x="4572000" y="3794727"/>
            <a:ext cx="4000500" cy="1277336"/>
          </a:xfrm>
          <a:prstGeom prst="rect">
            <a:avLst/>
          </a:prstGeom>
          <a:solidFill>
            <a:srgbClr val="0A0A0A"/>
          </a:solidFill>
          <a:ln w="18288">
            <a:solidFill>
              <a:srgbClr val="C9A646"/>
            </a:solidFill>
            <a:prstDash val="solid"/>
          </a:ln>
        </p:spPr>
      </p:sp>
      <p:sp>
        <p:nvSpPr>
          <p:cNvPr id="21" name="Text 18"/>
          <p:cNvSpPr/>
          <p:nvPr/>
        </p:nvSpPr>
        <p:spPr>
          <a:xfrm>
            <a:off x="4629150" y="3851877"/>
            <a:ext cx="3886200" cy="276820"/>
          </a:xfrm>
          <a:prstGeom prst="rect">
            <a:avLst/>
          </a:prstGeom>
          <a:noFill/>
          <a:ln/>
        </p:spPr>
        <p:txBody>
          <a:bodyPr wrap="square" lIns="0" tIns="0" rIns="0" bIns="0" rtlCol="0" anchor="t">
            <a:spAutoFit/>
          </a:bodyPr>
          <a:lstStyle/>
          <a:p>
            <a:pPr algn="l" indent="0" marL="0">
              <a:buNone/>
            </a:pPr>
            <a:r>
              <a:rPr lang="en-US" sz="1600" b="1" dirty="0">
                <a:solidFill>
                  <a:srgbClr val="666666"/>
                </a:solidFill>
                <a:latin typeface="Inter Black" pitchFamily="34" charset="0"/>
                <a:ea typeface="Inter Black" pitchFamily="34" charset="-122"/>
                <a:cs typeface="Inter Black" pitchFamily="34" charset="-120"/>
              </a:rPr>
              <a:t>TEMPORARY</a:t>
            </a:r>
            <a:endParaRPr lang="en-US" sz="1600" dirty="0"/>
          </a:p>
        </p:txBody>
      </p:sp>
      <p:sp>
        <p:nvSpPr>
          <p:cNvPr id="22" name="Text 19"/>
          <p:cNvSpPr/>
          <p:nvPr/>
        </p:nvSpPr>
        <p:spPr>
          <a:xfrm>
            <a:off x="4629150" y="4185847"/>
            <a:ext cx="38862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/temporary</a:t>
            </a:r>
            <a:endParaRPr lang="en-US" sz="1050" dirty="0"/>
          </a:p>
        </p:txBody>
      </p:sp>
      <p:sp>
        <p:nvSpPr>
          <p:cNvPr id="23" name="Text 20"/>
          <p:cNvSpPr/>
          <p:nvPr/>
        </p:nvSpPr>
        <p:spPr>
          <a:xfrm>
            <a:off x="4629150" y="4451952"/>
            <a:ext cx="38862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888888"/>
                </a:solidFill>
                <a:latin typeface="Inter" pitchFamily="34" charset="0"/>
                <a:ea typeface="Inter" pitchFamily="34" charset="-122"/>
                <a:cs typeface="Inter" pitchFamily="34" charset="-120"/>
              </a:rPr>
              <a:t>Staging data, ephemeral outputs. Isolated to protect the integrity of the permanent institutional vault.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WF-01 Is the Central Intelligence Repository That All Other Workflows Feed Into</a:t>
            </a:r>
            <a:endParaRPr lang="en-US" sz="2450" dirty="0"/>
          </a:p>
        </p:txBody>
      </p:sp>
      <p:sp>
        <p:nvSpPr>
          <p:cNvPr id="6" name="Text 3"/>
          <p:cNvSpPr/>
          <p:nvPr/>
        </p:nvSpPr>
        <p:spPr>
          <a:xfrm>
            <a:off x="571500" y="1337277"/>
            <a:ext cx="4474834"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The Institutional Knowledge Vault is the system's core: a durable folder and doc structure designed to persist through decades of change.</a:t>
            </a:r>
            <a:endParaRPr lang="en-US" sz="1250" dirty="0"/>
          </a:p>
        </p:txBody>
      </p:sp>
      <p:sp>
        <p:nvSpPr>
          <p:cNvPr id="7" name="Text 4"/>
          <p:cNvSpPr/>
          <p:nvPr/>
        </p:nvSpPr>
        <p:spPr>
          <a:xfrm>
            <a:off x="571500" y="2245928"/>
            <a:ext cx="4474834"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It produces searchable intelligence—markdown, CSVs, JSON, maps, and escalation trees—for contracting, real estate, AI, finance, and crisis response.</a:t>
            </a:r>
            <a:endParaRPr lang="en-US" sz="1250" dirty="0"/>
          </a:p>
        </p:txBody>
      </p:sp>
      <p:sp>
        <p:nvSpPr>
          <p:cNvPr id="8" name="Text 5"/>
          <p:cNvSpPr/>
          <p:nvPr/>
        </p:nvSpPr>
        <p:spPr>
          <a:xfrm>
            <a:off x="571500" y="3154580"/>
            <a:ext cx="4474834" cy="822927"/>
          </a:xfrm>
          <a:prstGeom prst="rect">
            <a:avLst/>
          </a:prstGeom>
          <a:noFill/>
          <a:ln/>
        </p:spPr>
        <p:txBody>
          <a:bodyPr wrap="square" lIns="0" tIns="0" rIns="0" bIns="0" rtlCol="0" anchor="t">
            <a:spAutoFit/>
          </a:bodyPr>
          <a:lstStyle/>
          <a:p>
            <a:pPr algn="l" indent="0" marL="0">
              <a:lnSpc>
                <a:spcPct val="128000"/>
              </a:lnSpc>
              <a:buNone/>
            </a:pPr>
            <a:r>
              <a:rPr lang="en-US" sz="1200" b="1" dirty="0">
                <a:solidFill>
                  <a:srgbClr val="C9A646"/>
                </a:solidFill>
                <a:latin typeface="Inter Bold" pitchFamily="34" charset="0"/>
                <a:ea typeface="Inter Bold" pitchFamily="34" charset="-122"/>
                <a:cs typeface="Inter Bold" pitchFamily="34" charset="-120"/>
              </a:rPr>
              <a:t>WF-04</a:t>
            </a:r>
            <a:r>
              <a:rPr lang="en-US" sz="1250" dirty="0">
                <a:solidFill>
                  <a:srgbClr val="E0E0E0"/>
                </a:solidFill>
                <a:latin typeface="Inter" pitchFamily="34" charset="0"/>
                <a:ea typeface="Inter" pitchFamily="34" charset="-122"/>
                <a:cs typeface="Inter" pitchFamily="34" charset="-120"/>
              </a:rPr>
              <a:t> feeds contracting intelligence.</a:t>
            </a:r>
            <a:r>
              <a:rPr lang="en-US" sz="1250" dirty="0">
                <a:solidFill>
                  <a:srgbClr val="E0E0E0"/>
                </a:solidFill>
                <a:latin typeface="Inter" pitchFamily="34" charset="0"/>
                <a:ea typeface="Inter" pitchFamily="34" charset="-122"/>
                <a:cs typeface="Inter" pitchFamily="34" charset="-120"/>
              </a:rPr>
              <a:t>
</a:t>
            </a:r>
            <a:r>
              <a:rPr lang="en-US" sz="1200" b="1" dirty="0">
                <a:solidFill>
                  <a:srgbClr val="C9A646"/>
                </a:solidFill>
                <a:latin typeface="Inter Bold" pitchFamily="34" charset="0"/>
                <a:ea typeface="Inter Bold" pitchFamily="34" charset="-122"/>
                <a:cs typeface="Inter Bold" pitchFamily="34" charset="-120"/>
              </a:rPr>
              <a:t>WF-05</a:t>
            </a:r>
            <a:r>
              <a:rPr lang="en-US" sz="1250" dirty="0">
                <a:solidFill>
                  <a:srgbClr val="E0E0E0"/>
                </a:solidFill>
                <a:latin typeface="Inter" pitchFamily="34" charset="0"/>
                <a:ea typeface="Inter" pitchFamily="34" charset="-122"/>
                <a:cs typeface="Inter" pitchFamily="34" charset="-120"/>
              </a:rPr>
              <a:t> logs daily operations.</a:t>
            </a:r>
            <a:r>
              <a:rPr lang="en-US" sz="1250" dirty="0">
                <a:solidFill>
                  <a:srgbClr val="E0E0E0"/>
                </a:solidFill>
                <a:latin typeface="Inter" pitchFamily="34" charset="0"/>
                <a:ea typeface="Inter" pitchFamily="34" charset="-122"/>
                <a:cs typeface="Inter" pitchFamily="34" charset="-120"/>
              </a:rPr>
              <a:t>
</a:t>
            </a:r>
            <a:r>
              <a:rPr lang="en-US" sz="1200" b="1" dirty="0">
                <a:solidFill>
                  <a:srgbClr val="C9A646"/>
                </a:solidFill>
                <a:latin typeface="Inter Bold" pitchFamily="34" charset="0"/>
                <a:ea typeface="Inter Bold" pitchFamily="34" charset="-122"/>
                <a:cs typeface="Inter Bold" pitchFamily="34" charset="-120"/>
              </a:rPr>
              <a:t>WF-03</a:t>
            </a:r>
            <a:r>
              <a:rPr lang="en-US" sz="1250" dirty="0">
                <a:solidFill>
                  <a:srgbClr val="E0E0E0"/>
                </a:solidFill>
                <a:latin typeface="Inter" pitchFamily="34" charset="0"/>
                <a:ea typeface="Inter" pitchFamily="34" charset="-122"/>
                <a:cs typeface="Inter" pitchFamily="34" charset="-120"/>
              </a:rPr>
              <a:t> archives recovery data.</a:t>
            </a:r>
            <a:endParaRPr lang="en-US" sz="1250" dirty="0"/>
          </a:p>
        </p:txBody>
      </p:sp>
      <p:sp>
        <p:nvSpPr>
          <p:cNvPr id="9" name="Shape 6"/>
          <p:cNvSpPr/>
          <p:nvPr/>
        </p:nvSpPr>
        <p:spPr>
          <a:xfrm>
            <a:off x="5303509" y="1337277"/>
            <a:ext cx="3268991" cy="3806223"/>
          </a:xfrm>
          <a:prstGeom prst="rect">
            <a:avLst/>
          </a:prstGeom>
          <a:solidFill>
            <a:srgbClr val="111111"/>
          </a:solidFill>
          <a:ln w="27432">
            <a:solidFill>
              <a:srgbClr val="C9A646"/>
            </a:solidFill>
            <a:prstDash val="solid"/>
          </a:ln>
        </p:spPr>
      </p:sp>
      <p:sp>
        <p:nvSpPr>
          <p:cNvPr id="10" name="Text 7"/>
          <p:cNvSpPr/>
          <p:nvPr/>
        </p:nvSpPr>
        <p:spPr>
          <a:xfrm>
            <a:off x="5452104" y="1451577"/>
            <a:ext cx="3006096" cy="348258"/>
          </a:xfrm>
          <a:prstGeom prst="rect">
            <a:avLst/>
          </a:prstGeom>
          <a:noFill/>
          <a:ln/>
        </p:spPr>
        <p:txBody>
          <a:bodyPr wrap="square" lIns="0" tIns="0" rIns="0" bIns="68072" rtlCol="0" anchor="t">
            <a:spAutoFit/>
          </a:bodyPr>
          <a:lstStyle/>
          <a:p>
            <a:pPr algn="l" indent="0" marL="0">
              <a:buNone/>
            </a:pPr>
            <a:r>
              <a:rPr lang="en-US" sz="1600" b="1" dirty="0">
                <a:solidFill>
                  <a:srgbClr val="C9A646"/>
                </a:solidFill>
                <a:latin typeface="Inter Black" pitchFamily="34" charset="0"/>
                <a:ea typeface="Inter Black" pitchFamily="34" charset="-122"/>
                <a:cs typeface="Inter Black" pitchFamily="34" charset="-120"/>
              </a:rPr>
              <a:t>CORE OUTPUTS</a:t>
            </a:r>
            <a:endParaRPr lang="en-US" sz="1600" dirty="0"/>
          </a:p>
        </p:txBody>
      </p:sp>
      <p:sp>
        <p:nvSpPr>
          <p:cNvPr id="11" name="Text 8"/>
          <p:cNvSpPr/>
          <p:nvPr/>
        </p:nvSpPr>
        <p:spPr>
          <a:xfrm>
            <a:off x="5452104" y="1885559"/>
            <a:ext cx="3006096" cy="364331"/>
          </a:xfrm>
          <a:prstGeom prst="rect">
            <a:avLst/>
          </a:prstGeom>
          <a:noFill/>
          <a:ln/>
        </p:spPr>
        <p:txBody>
          <a:bodyPr wrap="square" lIns="0" tIns="85090" rIns="0" bIns="85090" rtlCol="0" anchor="t">
            <a:spAutoFit/>
          </a:bodyPr>
          <a:lstStyle/>
          <a:p>
            <a:pPr algn="l" indent="0" marL="0">
              <a:buNone/>
            </a:pPr>
            <a:r>
              <a:rPr lang="en-US" sz="1150" dirty="0">
                <a:solidFill>
                  <a:srgbClr val="FFFFFF"/>
                </a:solidFill>
                <a:latin typeface="monospace" pitchFamily="34" charset="0"/>
                <a:ea typeface="monospace" pitchFamily="34" charset="-122"/>
                <a:cs typeface="monospace" pitchFamily="34" charset="-120"/>
              </a:rPr>
              <a:t>MASTER_INDEX.md</a:t>
            </a:r>
            <a:endParaRPr lang="en-US" sz="1150" dirty="0"/>
          </a:p>
        </p:txBody>
      </p:sp>
      <p:sp>
        <p:nvSpPr>
          <p:cNvPr id="12" name="Text 9"/>
          <p:cNvSpPr/>
          <p:nvPr/>
        </p:nvSpPr>
        <p:spPr>
          <a:xfrm>
            <a:off x="5452104" y="2249891"/>
            <a:ext cx="3006096" cy="364331"/>
          </a:xfrm>
          <a:prstGeom prst="rect">
            <a:avLst/>
          </a:prstGeom>
          <a:noFill/>
          <a:ln/>
        </p:spPr>
        <p:txBody>
          <a:bodyPr wrap="square" lIns="0" tIns="85090" rIns="0" bIns="85090" rtlCol="0" anchor="t">
            <a:spAutoFit/>
          </a:bodyPr>
          <a:lstStyle/>
          <a:p>
            <a:pPr algn="l" indent="0" marL="0">
              <a:buNone/>
            </a:pPr>
            <a:r>
              <a:rPr lang="en-US" sz="1150" dirty="0">
                <a:solidFill>
                  <a:srgbClr val="FFFFFF"/>
                </a:solidFill>
                <a:latin typeface="monospace" pitchFamily="34" charset="0"/>
                <a:ea typeface="monospace" pitchFamily="34" charset="-122"/>
                <a:cs typeface="monospace" pitchFamily="34" charset="-120"/>
              </a:rPr>
              <a:t>KNOWLEDGE_TREE.md</a:t>
            </a:r>
            <a:endParaRPr lang="en-US" sz="1150" dirty="0"/>
          </a:p>
        </p:txBody>
      </p:sp>
      <p:sp>
        <p:nvSpPr>
          <p:cNvPr id="13" name="Text 10"/>
          <p:cNvSpPr/>
          <p:nvPr/>
        </p:nvSpPr>
        <p:spPr>
          <a:xfrm>
            <a:off x="5452104" y="2614222"/>
            <a:ext cx="3006096" cy="364331"/>
          </a:xfrm>
          <a:prstGeom prst="rect">
            <a:avLst/>
          </a:prstGeom>
          <a:noFill/>
          <a:ln/>
        </p:spPr>
        <p:txBody>
          <a:bodyPr wrap="square" lIns="0" tIns="85090" rIns="0" bIns="85090" rtlCol="0" anchor="t">
            <a:spAutoFit/>
          </a:bodyPr>
          <a:lstStyle/>
          <a:p>
            <a:pPr algn="l" indent="0" marL="0">
              <a:buNone/>
            </a:pPr>
            <a:r>
              <a:rPr lang="en-US" sz="1150" dirty="0">
                <a:solidFill>
                  <a:srgbClr val="FFFFFF"/>
                </a:solidFill>
                <a:latin typeface="monospace" pitchFamily="34" charset="0"/>
                <a:ea typeface="monospace" pitchFamily="34" charset="-122"/>
                <a:cs typeface="monospace" pitchFamily="34" charset="-120"/>
              </a:rPr>
              <a:t>ARCHIVE_MANIFEST.md</a:t>
            </a:r>
            <a:endParaRPr lang="en-US" sz="1150" dirty="0"/>
          </a:p>
        </p:txBody>
      </p:sp>
      <p:sp>
        <p:nvSpPr>
          <p:cNvPr id="14" name="Text 11"/>
          <p:cNvSpPr/>
          <p:nvPr/>
        </p:nvSpPr>
        <p:spPr>
          <a:xfrm>
            <a:off x="5452104" y="2978553"/>
            <a:ext cx="3006096" cy="357188"/>
          </a:xfrm>
          <a:prstGeom prst="rect">
            <a:avLst/>
          </a:prstGeom>
          <a:noFill/>
          <a:ln/>
        </p:spPr>
        <p:txBody>
          <a:bodyPr wrap="square" lIns="0" tIns="85090" rIns="0" bIns="85090" rtlCol="0" anchor="t">
            <a:spAutoFit/>
          </a:bodyPr>
          <a:lstStyle/>
          <a:p>
            <a:pPr algn="l" indent="0" marL="0">
              <a:buNone/>
            </a:pPr>
            <a:r>
              <a:rPr lang="en-US" sz="1150" dirty="0">
                <a:solidFill>
                  <a:srgbClr val="FFFFFF"/>
                </a:solidFill>
                <a:latin typeface="monospace" pitchFamily="34" charset="0"/>
                <a:ea typeface="monospace" pitchFamily="34" charset="-122"/>
                <a:cs typeface="monospace" pitchFamily="34" charset="-120"/>
              </a:rPr>
              <a:t>OPERATIONAL_LAWS.md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WF-02 Converts the Knowledge Vault Into a 12-Month Operator Mastery Curriculum</a:t>
            </a:r>
            <a:endParaRPr lang="en-US" sz="2450" dirty="0"/>
          </a:p>
        </p:txBody>
      </p:sp>
      <p:sp>
        <p:nvSpPr>
          <p:cNvPr id="6" name="Text 3"/>
          <p:cNvSpPr/>
          <p:nvPr/>
        </p:nvSpPr>
        <p:spPr>
          <a:xfrm>
            <a:off x="571500" y="1480152"/>
            <a:ext cx="8001000" cy="1097235"/>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The Operator Training System is the human capital layer of the sovereign ecosystem. It structures a complete beginner-to-advanced curriculum across four phases designed for an operator with strong vision but limited traditional engineering experience. Each phase includes daily repetition drills, command memorization, recovery simulations, and real-world operational walkthroughs.</a:t>
            </a:r>
            <a:endParaRPr lang="en-US" sz="1250" dirty="0"/>
          </a:p>
        </p:txBody>
      </p:sp>
      <p:sp>
        <p:nvSpPr>
          <p:cNvPr id="7" name="Shape 4"/>
          <p:cNvSpPr/>
          <p:nvPr/>
        </p:nvSpPr>
        <p:spPr>
          <a:xfrm>
            <a:off x="571500" y="2791699"/>
            <a:ext cx="8001000" cy="2066051"/>
          </a:xfrm>
          <a:prstGeom prst="rect">
            <a:avLst/>
          </a:prstGeom>
          <a:solidFill>
            <a:srgbClr val="000000">
              <a:alpha val="0"/>
            </a:srgbClr>
          </a:solidFill>
          <a:ln w="27432">
            <a:solidFill>
              <a:srgbClr val="C9A646"/>
            </a:solidFill>
            <a:prstDash val="solid"/>
          </a:ln>
        </p:spPr>
      </p:sp>
      <p:sp>
        <p:nvSpPr>
          <p:cNvPr id="8" name="Shape 5"/>
          <p:cNvSpPr/>
          <p:nvPr/>
        </p:nvSpPr>
        <p:spPr>
          <a:xfrm>
            <a:off x="571500" y="2791699"/>
            <a:ext cx="2003822" cy="2066051"/>
          </a:xfrm>
          <a:prstGeom prst="rect">
            <a:avLst/>
          </a:prstGeom>
          <a:solidFill>
            <a:srgbClr val="111111"/>
          </a:solidFill>
          <a:ln/>
        </p:spPr>
      </p:sp>
      <p:sp>
        <p:nvSpPr>
          <p:cNvPr id="9" name="Shape 6"/>
          <p:cNvSpPr/>
          <p:nvPr/>
        </p:nvSpPr>
        <p:spPr>
          <a:xfrm>
            <a:off x="2561034" y="2791699"/>
            <a:ext cx="14288" cy="2066051"/>
          </a:xfrm>
          <a:prstGeom prst="rect">
            <a:avLst/>
          </a:prstGeom>
          <a:solidFill>
            <a:srgbClr val="C9A646"/>
          </a:solidFill>
          <a:ln/>
        </p:spPr>
      </p:sp>
      <p:sp>
        <p:nvSpPr>
          <p:cNvPr id="10" name="Text 7"/>
          <p:cNvSpPr/>
          <p:nvPr/>
        </p:nvSpPr>
        <p:spPr>
          <a:xfrm>
            <a:off x="714375" y="2934574"/>
            <a:ext cx="1707356" cy="414338"/>
          </a:xfrm>
          <a:prstGeom prst="rect">
            <a:avLst/>
          </a:prstGeom>
          <a:noFill/>
          <a:ln/>
        </p:spPr>
        <p:txBody>
          <a:bodyPr wrap="square" lIns="0" tIns="0" rIns="0" bIns="0" rtlCol="0" anchor="t">
            <a:spAutoFit/>
          </a:bodyPr>
          <a:lstStyle/>
          <a:p>
            <a:pPr algn="l" indent="0" marL="0">
              <a:buNone/>
            </a:pPr>
            <a:r>
              <a:rPr lang="en-US" sz="2450" b="1" dirty="0">
                <a:solidFill>
                  <a:srgbClr val="333333"/>
                </a:solidFill>
                <a:latin typeface="Inter Black" pitchFamily="34" charset="0"/>
                <a:ea typeface="Inter Black" pitchFamily="34" charset="-122"/>
                <a:cs typeface="Inter Black" pitchFamily="34" charset="-120"/>
              </a:rPr>
              <a:t>01</a:t>
            </a:r>
            <a:endParaRPr lang="en-US" sz="2450" dirty="0"/>
          </a:p>
        </p:txBody>
      </p:sp>
      <p:sp>
        <p:nvSpPr>
          <p:cNvPr id="11" name="Text 8"/>
          <p:cNvSpPr/>
          <p:nvPr/>
        </p:nvSpPr>
        <p:spPr>
          <a:xfrm>
            <a:off x="714375" y="3420349"/>
            <a:ext cx="1707356" cy="242888"/>
          </a:xfrm>
          <a:prstGeom prst="rect">
            <a:avLst/>
          </a:prstGeom>
          <a:noFill/>
          <a:ln/>
        </p:spPr>
        <p:txBody>
          <a:bodyPr wrap="square" lIns="0" tIns="0" rIns="0" bIns="0" rtlCol="0" anchor="t">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BEGINNER</a:t>
            </a:r>
            <a:endParaRPr lang="en-US" sz="1400" dirty="0"/>
          </a:p>
        </p:txBody>
      </p:sp>
      <p:sp>
        <p:nvSpPr>
          <p:cNvPr id="12" name="Text 9"/>
          <p:cNvSpPr/>
          <p:nvPr/>
        </p:nvSpPr>
        <p:spPr>
          <a:xfrm>
            <a:off x="714375" y="3770393"/>
            <a:ext cx="1707356"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E0E0E0"/>
                </a:solidFill>
                <a:latin typeface="Inter" pitchFamily="34" charset="0"/>
                <a:ea typeface="Inter" pitchFamily="34" charset="-122"/>
                <a:cs typeface="Inter" pitchFamily="34" charset="-120"/>
              </a:rPr>
              <a:t>Foundational concepts, terminal basics, and daily repetition drills.</a:t>
            </a:r>
            <a:endParaRPr lang="en-US" sz="1050" dirty="0"/>
          </a:p>
        </p:txBody>
      </p:sp>
      <p:sp>
        <p:nvSpPr>
          <p:cNvPr id="13" name="Shape 10"/>
          <p:cNvSpPr/>
          <p:nvPr/>
        </p:nvSpPr>
        <p:spPr>
          <a:xfrm>
            <a:off x="2564606" y="2791699"/>
            <a:ext cx="2007394" cy="2066051"/>
          </a:xfrm>
          <a:prstGeom prst="rect">
            <a:avLst/>
          </a:prstGeom>
          <a:solidFill>
            <a:srgbClr val="111111"/>
          </a:solidFill>
          <a:ln/>
        </p:spPr>
      </p:sp>
      <p:sp>
        <p:nvSpPr>
          <p:cNvPr id="14" name="Shape 11"/>
          <p:cNvSpPr/>
          <p:nvPr/>
        </p:nvSpPr>
        <p:spPr>
          <a:xfrm>
            <a:off x="4557713" y="2791699"/>
            <a:ext cx="14288" cy="2066051"/>
          </a:xfrm>
          <a:prstGeom prst="rect">
            <a:avLst/>
          </a:prstGeom>
          <a:solidFill>
            <a:srgbClr val="C9A646"/>
          </a:solidFill>
          <a:ln/>
        </p:spPr>
      </p:sp>
      <p:sp>
        <p:nvSpPr>
          <p:cNvPr id="15" name="Text 12"/>
          <p:cNvSpPr/>
          <p:nvPr/>
        </p:nvSpPr>
        <p:spPr>
          <a:xfrm>
            <a:off x="2711053" y="2934574"/>
            <a:ext cx="1710928" cy="414338"/>
          </a:xfrm>
          <a:prstGeom prst="rect">
            <a:avLst/>
          </a:prstGeom>
          <a:noFill/>
          <a:ln/>
        </p:spPr>
        <p:txBody>
          <a:bodyPr wrap="square" lIns="0" tIns="0" rIns="0" bIns="0" rtlCol="0" anchor="t">
            <a:spAutoFit/>
          </a:bodyPr>
          <a:lstStyle/>
          <a:p>
            <a:pPr algn="l" indent="0" marL="0">
              <a:buNone/>
            </a:pPr>
            <a:r>
              <a:rPr lang="en-US" sz="2450" b="1" dirty="0">
                <a:solidFill>
                  <a:srgbClr val="333333"/>
                </a:solidFill>
                <a:latin typeface="Inter Black" pitchFamily="34" charset="0"/>
                <a:ea typeface="Inter Black" pitchFamily="34" charset="-122"/>
                <a:cs typeface="Inter Black" pitchFamily="34" charset="-120"/>
              </a:rPr>
              <a:t>02</a:t>
            </a:r>
            <a:endParaRPr lang="en-US" sz="2450" dirty="0"/>
          </a:p>
        </p:txBody>
      </p:sp>
      <p:sp>
        <p:nvSpPr>
          <p:cNvPr id="16" name="Text 13"/>
          <p:cNvSpPr/>
          <p:nvPr/>
        </p:nvSpPr>
        <p:spPr>
          <a:xfrm>
            <a:off x="2711053" y="3420349"/>
            <a:ext cx="1710928" cy="242888"/>
          </a:xfrm>
          <a:prstGeom prst="rect">
            <a:avLst/>
          </a:prstGeom>
          <a:noFill/>
          <a:ln/>
        </p:spPr>
        <p:txBody>
          <a:bodyPr wrap="square" lIns="0" tIns="0" rIns="0" bIns="0" rtlCol="0" anchor="t">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INTERMEDIATE</a:t>
            </a:r>
            <a:endParaRPr lang="en-US" sz="1400" dirty="0"/>
          </a:p>
        </p:txBody>
      </p:sp>
      <p:sp>
        <p:nvSpPr>
          <p:cNvPr id="17" name="Text 14"/>
          <p:cNvSpPr/>
          <p:nvPr/>
        </p:nvSpPr>
        <p:spPr>
          <a:xfrm>
            <a:off x="2711053" y="3770393"/>
            <a:ext cx="1710928"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E0E0E0"/>
                </a:solidFill>
                <a:latin typeface="Inter" pitchFamily="34" charset="0"/>
                <a:ea typeface="Inter" pitchFamily="34" charset="-122"/>
                <a:cs typeface="Inter" pitchFamily="34" charset="-120"/>
              </a:rPr>
              <a:t>Command memorization, GitHub navigation, and basic troubleshooting.</a:t>
            </a:r>
            <a:endParaRPr lang="en-US" sz="1050" dirty="0"/>
          </a:p>
        </p:txBody>
      </p:sp>
      <p:sp>
        <p:nvSpPr>
          <p:cNvPr id="18" name="Shape 15"/>
          <p:cNvSpPr/>
          <p:nvPr/>
        </p:nvSpPr>
        <p:spPr>
          <a:xfrm>
            <a:off x="4564856" y="2791699"/>
            <a:ext cx="2010966" cy="2066051"/>
          </a:xfrm>
          <a:prstGeom prst="rect">
            <a:avLst/>
          </a:prstGeom>
          <a:solidFill>
            <a:srgbClr val="111111"/>
          </a:solidFill>
          <a:ln/>
        </p:spPr>
      </p:sp>
      <p:sp>
        <p:nvSpPr>
          <p:cNvPr id="19" name="Shape 16"/>
          <p:cNvSpPr/>
          <p:nvPr/>
        </p:nvSpPr>
        <p:spPr>
          <a:xfrm>
            <a:off x="6561534" y="2791699"/>
            <a:ext cx="14288" cy="2066051"/>
          </a:xfrm>
          <a:prstGeom prst="rect">
            <a:avLst/>
          </a:prstGeom>
          <a:solidFill>
            <a:srgbClr val="C9A646"/>
          </a:solidFill>
          <a:ln/>
        </p:spPr>
      </p:sp>
      <p:sp>
        <p:nvSpPr>
          <p:cNvPr id="20" name="Text 17"/>
          <p:cNvSpPr/>
          <p:nvPr/>
        </p:nvSpPr>
        <p:spPr>
          <a:xfrm>
            <a:off x="4714875" y="2934574"/>
            <a:ext cx="1714500" cy="414338"/>
          </a:xfrm>
          <a:prstGeom prst="rect">
            <a:avLst/>
          </a:prstGeom>
          <a:noFill/>
          <a:ln/>
        </p:spPr>
        <p:txBody>
          <a:bodyPr wrap="square" lIns="0" tIns="0" rIns="0" bIns="0" rtlCol="0" anchor="t">
            <a:spAutoFit/>
          </a:bodyPr>
          <a:lstStyle/>
          <a:p>
            <a:pPr algn="l" indent="0" marL="0">
              <a:buNone/>
            </a:pPr>
            <a:r>
              <a:rPr lang="en-US" sz="2450" b="1" dirty="0">
                <a:solidFill>
                  <a:srgbClr val="333333"/>
                </a:solidFill>
                <a:latin typeface="Inter Black" pitchFamily="34" charset="0"/>
                <a:ea typeface="Inter Black" pitchFamily="34" charset="-122"/>
                <a:cs typeface="Inter Black" pitchFamily="34" charset="-120"/>
              </a:rPr>
              <a:t>03</a:t>
            </a:r>
            <a:endParaRPr lang="en-US" sz="2450" dirty="0"/>
          </a:p>
        </p:txBody>
      </p:sp>
      <p:sp>
        <p:nvSpPr>
          <p:cNvPr id="21" name="Text 18"/>
          <p:cNvSpPr/>
          <p:nvPr/>
        </p:nvSpPr>
        <p:spPr>
          <a:xfrm>
            <a:off x="4714875" y="3420349"/>
            <a:ext cx="1714500" cy="242888"/>
          </a:xfrm>
          <a:prstGeom prst="rect">
            <a:avLst/>
          </a:prstGeom>
          <a:noFill/>
          <a:ln/>
        </p:spPr>
        <p:txBody>
          <a:bodyPr wrap="square" lIns="0" tIns="0" rIns="0" bIns="0" rtlCol="0" anchor="t">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ADVANCED</a:t>
            </a:r>
            <a:endParaRPr lang="en-US" sz="1400" dirty="0"/>
          </a:p>
        </p:txBody>
      </p:sp>
      <p:sp>
        <p:nvSpPr>
          <p:cNvPr id="22" name="Text 19"/>
          <p:cNvSpPr/>
          <p:nvPr/>
        </p:nvSpPr>
        <p:spPr>
          <a:xfrm>
            <a:off x="4714875" y="3770393"/>
            <a:ext cx="1714500" cy="857250"/>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E0E0E0"/>
                </a:solidFill>
                <a:latin typeface="Inter" pitchFamily="34" charset="0"/>
                <a:ea typeface="Inter" pitchFamily="34" charset="-122"/>
                <a:cs typeface="Inter" pitchFamily="34" charset="-120"/>
              </a:rPr>
              <a:t>Recovery simulations, operational walkthroughs, and database management.</a:t>
            </a:r>
            <a:endParaRPr lang="en-US" sz="1050" dirty="0"/>
          </a:p>
        </p:txBody>
      </p:sp>
      <p:sp>
        <p:nvSpPr>
          <p:cNvPr id="23" name="Shape 20"/>
          <p:cNvSpPr/>
          <p:nvPr/>
        </p:nvSpPr>
        <p:spPr>
          <a:xfrm>
            <a:off x="6572250" y="2791699"/>
            <a:ext cx="2000250" cy="2066051"/>
          </a:xfrm>
          <a:prstGeom prst="rect">
            <a:avLst/>
          </a:prstGeom>
          <a:solidFill>
            <a:srgbClr val="111111"/>
          </a:solidFill>
          <a:ln/>
        </p:spPr>
      </p:sp>
      <p:sp>
        <p:nvSpPr>
          <p:cNvPr id="24" name="Text 21"/>
          <p:cNvSpPr/>
          <p:nvPr/>
        </p:nvSpPr>
        <p:spPr>
          <a:xfrm>
            <a:off x="6715125" y="2934574"/>
            <a:ext cx="1714500" cy="414338"/>
          </a:xfrm>
          <a:prstGeom prst="rect">
            <a:avLst/>
          </a:prstGeom>
          <a:noFill/>
          <a:ln/>
        </p:spPr>
        <p:txBody>
          <a:bodyPr wrap="square" lIns="0" tIns="0" rIns="0" bIns="0" rtlCol="0" anchor="t">
            <a:spAutoFit/>
          </a:bodyPr>
          <a:lstStyle/>
          <a:p>
            <a:pPr algn="l" indent="0" marL="0">
              <a:buNone/>
            </a:pPr>
            <a:r>
              <a:rPr lang="en-US" sz="2450" b="1" dirty="0">
                <a:solidFill>
                  <a:srgbClr val="333333"/>
                </a:solidFill>
                <a:latin typeface="Inter Black" pitchFamily="34" charset="0"/>
                <a:ea typeface="Inter Black" pitchFamily="34" charset="-122"/>
                <a:cs typeface="Inter Black" pitchFamily="34" charset="-120"/>
              </a:rPr>
              <a:t>04</a:t>
            </a:r>
            <a:endParaRPr lang="en-US" sz="2450" dirty="0"/>
          </a:p>
        </p:txBody>
      </p:sp>
      <p:sp>
        <p:nvSpPr>
          <p:cNvPr id="25" name="Text 22"/>
          <p:cNvSpPr/>
          <p:nvPr/>
        </p:nvSpPr>
        <p:spPr>
          <a:xfrm>
            <a:off x="6715125" y="3420349"/>
            <a:ext cx="1714500" cy="242888"/>
          </a:xfrm>
          <a:prstGeom prst="rect">
            <a:avLst/>
          </a:prstGeom>
          <a:noFill/>
          <a:ln/>
        </p:spPr>
        <p:txBody>
          <a:bodyPr wrap="square" lIns="0" tIns="0" rIns="0" bIns="0" rtlCol="0" anchor="t">
            <a:spAutoFit/>
          </a:bodyPr>
          <a:lstStyle/>
          <a:p>
            <a:pPr algn="l" indent="0" marL="0">
              <a:buNone/>
            </a:pPr>
            <a:r>
              <a:rPr lang="en-US" sz="1400" b="1" dirty="0">
                <a:solidFill>
                  <a:srgbClr val="C9A646"/>
                </a:solidFill>
                <a:latin typeface="Inter Bold" pitchFamily="34" charset="0"/>
                <a:ea typeface="Inter Bold" pitchFamily="34" charset="-122"/>
                <a:cs typeface="Inter Bold" pitchFamily="34" charset="-120"/>
              </a:rPr>
              <a:t>INSTITUTIONAL</a:t>
            </a:r>
            <a:endParaRPr lang="en-US" sz="1400" dirty="0"/>
          </a:p>
        </p:txBody>
      </p:sp>
      <p:sp>
        <p:nvSpPr>
          <p:cNvPr id="26" name="Text 23"/>
          <p:cNvSpPr/>
          <p:nvPr/>
        </p:nvSpPr>
        <p:spPr>
          <a:xfrm>
            <a:off x="6715125" y="3770393"/>
            <a:ext cx="1714500"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E0E0E0"/>
                </a:solidFill>
                <a:latin typeface="Inter" pitchFamily="34" charset="0"/>
                <a:ea typeface="Inter" pitchFamily="34" charset="-122"/>
                <a:cs typeface="Inter" pitchFamily="34" charset="-120"/>
              </a:rPr>
              <a:t>Full sovereign mastery, emergency response, and system architecture.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894364"/>
          </a:xfrm>
          <a:prstGeom prst="rect">
            <a:avLst/>
          </a:prstGeom>
          <a:solidFill>
            <a:srgbClr val="000000">
              <a:alpha val="0"/>
            </a:srgbClr>
          </a:solidFill>
          <a:ln/>
        </p:spPr>
      </p:sp>
      <p:sp>
        <p:nvSpPr>
          <p:cNvPr id="4" name="Shape 1"/>
          <p:cNvSpPr/>
          <p:nvPr/>
        </p:nvSpPr>
        <p:spPr>
          <a:xfrm>
            <a:off x="571500" y="1294414"/>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WF-03 Ensures No Single Failure Can Collapse the Sovereign System</a:t>
            </a:r>
            <a:endParaRPr lang="en-US" sz="2450" dirty="0"/>
          </a:p>
        </p:txBody>
      </p:sp>
      <p:sp>
        <p:nvSpPr>
          <p:cNvPr id="6" name="Text 3"/>
          <p:cNvSpPr/>
          <p:nvPr/>
        </p:nvSpPr>
        <p:spPr>
          <a:xfrm>
            <a:off x="571500" y="1380139"/>
            <a:ext cx="80010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The Enterprise Failure Recovery System is the defensive architecture of Prime Pathwy. It builds recovery playbooks for every critical failure mode. Every playbook documents symptoms, causes, severity level, recovery steps, rollback commands, validation steps, and prevention methods.</a:t>
            </a:r>
            <a:endParaRPr lang="en-US" sz="1250" dirty="0"/>
          </a:p>
        </p:txBody>
      </p:sp>
      <p:sp>
        <p:nvSpPr>
          <p:cNvPr id="7" name="Shape 4"/>
          <p:cNvSpPr/>
          <p:nvPr/>
        </p:nvSpPr>
        <p:spPr>
          <a:xfrm>
            <a:off x="571500" y="2288791"/>
            <a:ext cx="8001000" cy="2768984"/>
          </a:xfrm>
          <a:prstGeom prst="rect">
            <a:avLst/>
          </a:prstGeom>
          <a:solidFill>
            <a:srgbClr val="000000">
              <a:alpha val="0"/>
            </a:srgbClr>
          </a:solidFill>
          <a:ln w="27432">
            <a:solidFill>
              <a:srgbClr val="C9A646"/>
            </a:solidFill>
            <a:prstDash val="solid"/>
          </a:ln>
        </p:spPr>
      </p:sp>
      <p:sp>
        <p:nvSpPr>
          <p:cNvPr id="8" name="Shape 5"/>
          <p:cNvSpPr/>
          <p:nvPr/>
        </p:nvSpPr>
        <p:spPr>
          <a:xfrm>
            <a:off x="571500" y="2288791"/>
            <a:ext cx="4014788" cy="2768984"/>
          </a:xfrm>
          <a:prstGeom prst="rect">
            <a:avLst/>
          </a:prstGeom>
          <a:solidFill>
            <a:srgbClr val="111111"/>
          </a:solidFill>
          <a:ln/>
        </p:spPr>
      </p:sp>
      <p:sp>
        <p:nvSpPr>
          <p:cNvPr id="9" name="Shape 6"/>
          <p:cNvSpPr/>
          <p:nvPr/>
        </p:nvSpPr>
        <p:spPr>
          <a:xfrm>
            <a:off x="4557713" y="2288791"/>
            <a:ext cx="28575" cy="2768984"/>
          </a:xfrm>
          <a:prstGeom prst="rect">
            <a:avLst/>
          </a:prstGeom>
          <a:solidFill>
            <a:srgbClr val="C9A646"/>
          </a:solidFill>
          <a:ln/>
        </p:spPr>
      </p:sp>
      <p:sp>
        <p:nvSpPr>
          <p:cNvPr id="10" name="Text 7"/>
          <p:cNvSpPr/>
          <p:nvPr/>
        </p:nvSpPr>
        <p:spPr>
          <a:xfrm>
            <a:off x="628650" y="2345941"/>
            <a:ext cx="3886200" cy="300038"/>
          </a:xfrm>
          <a:prstGeom prst="rect">
            <a:avLst/>
          </a:prstGeom>
          <a:noFill/>
          <a:ln/>
        </p:spPr>
        <p:txBody>
          <a:bodyPr wrap="square" lIns="0" tIns="0" rIns="0" bIns="51054" rtlCol="0" anchor="t">
            <a:spAutoFit/>
          </a:bodyPr>
          <a:lstStyle/>
          <a:p>
            <a:pPr algn="l" indent="0" marL="0">
              <a:buNone/>
            </a:pPr>
            <a:r>
              <a:rPr lang="en-US" sz="1400" b="1" dirty="0">
                <a:solidFill>
                  <a:srgbClr val="C9A646"/>
                </a:solidFill>
                <a:latin typeface="Inter Black" pitchFamily="34" charset="0"/>
                <a:ea typeface="Inter Black" pitchFamily="34" charset="-122"/>
                <a:cs typeface="Inter Black" pitchFamily="34" charset="-120"/>
              </a:rPr>
              <a:t>CRITICAL FAILURE MODES</a:t>
            </a:r>
            <a:endParaRPr lang="en-US" sz="1400" dirty="0"/>
          </a:p>
        </p:txBody>
      </p:sp>
      <p:sp>
        <p:nvSpPr>
          <p:cNvPr id="11" name="Text 8"/>
          <p:cNvSpPr/>
          <p:nvPr/>
        </p:nvSpPr>
        <p:spPr>
          <a:xfrm>
            <a:off x="628650" y="2703128"/>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Git conflicts &amp; corrupted branches</a:t>
            </a:r>
            <a:endParaRPr lang="en-US" sz="1150" dirty="0"/>
          </a:p>
        </p:txBody>
      </p:sp>
      <p:sp>
        <p:nvSpPr>
          <p:cNvPr id="12" name="Text 9"/>
          <p:cNvSpPr/>
          <p:nvPr/>
        </p:nvSpPr>
        <p:spPr>
          <a:xfrm>
            <a:off x="628650" y="2981734"/>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Database corruption &amp; lock issues</a:t>
            </a:r>
            <a:endParaRPr lang="en-US" sz="1150" dirty="0"/>
          </a:p>
        </p:txBody>
      </p:sp>
      <p:sp>
        <p:nvSpPr>
          <p:cNvPr id="13" name="Text 10"/>
          <p:cNvSpPr/>
          <p:nvPr/>
        </p:nvSpPr>
        <p:spPr>
          <a:xfrm>
            <a:off x="628650" y="3260341"/>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Broken APIs &amp; failed deployments</a:t>
            </a:r>
            <a:endParaRPr lang="en-US" sz="1150" dirty="0"/>
          </a:p>
        </p:txBody>
      </p:sp>
      <p:sp>
        <p:nvSpPr>
          <p:cNvPr id="14" name="Text 11"/>
          <p:cNvSpPr/>
          <p:nvPr/>
        </p:nvSpPr>
        <p:spPr>
          <a:xfrm>
            <a:off x="628650" y="3538947"/>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Docker &amp; infrastructure failures</a:t>
            </a:r>
            <a:endParaRPr lang="en-US" sz="1150" dirty="0"/>
          </a:p>
        </p:txBody>
      </p:sp>
      <p:sp>
        <p:nvSpPr>
          <p:cNvPr id="15" name="Text 12"/>
          <p:cNvSpPr/>
          <p:nvPr/>
        </p:nvSpPr>
        <p:spPr>
          <a:xfrm>
            <a:off x="628650" y="3817553"/>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AI hallucination damage</a:t>
            </a:r>
            <a:endParaRPr lang="en-US" sz="1150" dirty="0"/>
          </a:p>
        </p:txBody>
      </p:sp>
      <p:sp>
        <p:nvSpPr>
          <p:cNvPr id="16" name="Text 13"/>
          <p:cNvSpPr/>
          <p:nvPr/>
        </p:nvSpPr>
        <p:spPr>
          <a:xfrm>
            <a:off x="628650" y="4096159"/>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Accidental file overwrites</a:t>
            </a:r>
            <a:endParaRPr lang="en-US" sz="1150" dirty="0"/>
          </a:p>
        </p:txBody>
      </p:sp>
      <p:sp>
        <p:nvSpPr>
          <p:cNvPr id="17" name="Shape 14"/>
          <p:cNvSpPr/>
          <p:nvPr/>
        </p:nvSpPr>
        <p:spPr>
          <a:xfrm>
            <a:off x="4572000" y="2288791"/>
            <a:ext cx="4000500" cy="2768984"/>
          </a:xfrm>
          <a:prstGeom prst="rect">
            <a:avLst/>
          </a:prstGeom>
          <a:solidFill>
            <a:srgbClr val="0A0A0A"/>
          </a:solidFill>
          <a:ln/>
        </p:spPr>
      </p:sp>
      <p:sp>
        <p:nvSpPr>
          <p:cNvPr id="18" name="Text 15"/>
          <p:cNvSpPr/>
          <p:nvPr/>
        </p:nvSpPr>
        <p:spPr>
          <a:xfrm>
            <a:off x="4629150" y="2345941"/>
            <a:ext cx="3886200" cy="300038"/>
          </a:xfrm>
          <a:prstGeom prst="rect">
            <a:avLst/>
          </a:prstGeom>
          <a:noFill/>
          <a:ln/>
        </p:spPr>
        <p:txBody>
          <a:bodyPr wrap="square" lIns="0" tIns="0" rIns="0" bIns="51054" rtlCol="0" anchor="t">
            <a:spAutoFit/>
          </a:bodyPr>
          <a:lstStyle/>
          <a:p>
            <a:pPr algn="l" indent="0" marL="0">
              <a:buNone/>
            </a:pPr>
            <a:r>
              <a:rPr lang="en-US" sz="1400" b="1" dirty="0">
                <a:solidFill>
                  <a:srgbClr val="C9A646"/>
                </a:solidFill>
                <a:latin typeface="Inter Black" pitchFamily="34" charset="0"/>
                <a:ea typeface="Inter Black" pitchFamily="34" charset="-122"/>
                <a:cs typeface="Inter Black" pitchFamily="34" charset="-120"/>
              </a:rPr>
              <a:t>SYSTEM DELIVERABLES</a:t>
            </a:r>
            <a:endParaRPr lang="en-US" sz="1400" dirty="0"/>
          </a:p>
        </p:txBody>
      </p:sp>
      <p:sp>
        <p:nvSpPr>
          <p:cNvPr id="19" name="Text 16"/>
          <p:cNvSpPr/>
          <p:nvPr/>
        </p:nvSpPr>
        <p:spPr>
          <a:xfrm>
            <a:off x="4629150" y="2703128"/>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Emergency Operations Manual</a:t>
            </a:r>
            <a:endParaRPr lang="en-US" sz="1150" dirty="0"/>
          </a:p>
        </p:txBody>
      </p:sp>
      <p:sp>
        <p:nvSpPr>
          <p:cNvPr id="20" name="Text 17"/>
          <p:cNvSpPr/>
          <p:nvPr/>
        </p:nvSpPr>
        <p:spPr>
          <a:xfrm>
            <a:off x="4629150" y="2981734"/>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System Integrity Verification Checklist</a:t>
            </a:r>
            <a:endParaRPr lang="en-US" sz="1150" dirty="0"/>
          </a:p>
        </p:txBody>
      </p:sp>
      <p:sp>
        <p:nvSpPr>
          <p:cNvPr id="21" name="Text 18"/>
          <p:cNvSpPr/>
          <p:nvPr/>
        </p:nvSpPr>
        <p:spPr>
          <a:xfrm>
            <a:off x="4629150" y="3260341"/>
            <a:ext cx="3886200" cy="235744"/>
          </a:xfrm>
          <a:prstGeom prst="rect">
            <a:avLst/>
          </a:prstGeom>
          <a:noFill/>
          <a:ln/>
        </p:spPr>
        <p:txBody>
          <a:bodyPr wrap="none" lIns="0" tIns="0" rIns="0" bIns="0" rtlCol="0" anchor="t">
            <a:spAutoFit/>
          </a:bodyPr>
          <a:lstStyle/>
          <a:p>
            <a:pPr algn="l" indent="0" marL="0">
              <a:lnSpc>
                <a:spcPct val="120000"/>
              </a:lnSpc>
              <a:buNone/>
            </a:pPr>
            <a:r>
              <a:rPr lang="en-US" sz="1150" dirty="0">
                <a:solidFill>
                  <a:srgbClr val="CCCCCC"/>
                </a:solidFill>
                <a:latin typeface="Inter" pitchFamily="34" charset="0"/>
                <a:ea typeface="Inter" pitchFamily="34" charset="-122"/>
                <a:cs typeface="Inter" pitchFamily="34" charset="-120"/>
              </a:rPr>
              <a:t>Maintenance Routines</a:t>
            </a:r>
            <a:endParaRPr lang="en-US" sz="1150" dirty="0"/>
          </a:p>
        </p:txBody>
      </p:sp>
      <p:sp>
        <p:nvSpPr>
          <p:cNvPr id="22" name="Shape 19"/>
          <p:cNvSpPr/>
          <p:nvPr/>
        </p:nvSpPr>
        <p:spPr>
          <a:xfrm>
            <a:off x="4629150" y="3581809"/>
            <a:ext cx="3886200" cy="1207294"/>
          </a:xfrm>
          <a:prstGeom prst="rect">
            <a:avLst/>
          </a:prstGeom>
          <a:solidFill>
            <a:srgbClr val="1A1A1A"/>
          </a:solidFill>
          <a:ln w="18288">
            <a:solidFill>
              <a:srgbClr val="C9A646"/>
            </a:solidFill>
            <a:prstDash val="solid"/>
          </a:ln>
        </p:spPr>
      </p:sp>
      <p:sp>
        <p:nvSpPr>
          <p:cNvPr id="23" name="Text 20"/>
          <p:cNvSpPr/>
          <p:nvPr/>
        </p:nvSpPr>
        <p:spPr>
          <a:xfrm>
            <a:off x="4686300" y="3638959"/>
            <a:ext cx="3771900" cy="207169"/>
          </a:xfrm>
          <a:prstGeom prst="rect">
            <a:avLst/>
          </a:prstGeom>
          <a:noFill/>
          <a:ln/>
        </p:spPr>
        <p:txBody>
          <a:bodyPr wrap="square" lIns="0" tIns="0" rIns="0" bIns="0" rtlCol="0" anchor="t">
            <a:spAutoFit/>
          </a:bodyPr>
          <a:lstStyle/>
          <a:p>
            <a:pPr algn="l" indent="0" marL="0">
              <a:buNone/>
            </a:pPr>
            <a:r>
              <a:rPr lang="en-US" sz="1200" b="1" dirty="0">
                <a:solidFill>
                  <a:srgbClr val="C9A646"/>
                </a:solidFill>
                <a:latin typeface="Inter Bold" pitchFamily="34" charset="0"/>
                <a:ea typeface="Inter Bold" pitchFamily="34" charset="-122"/>
                <a:cs typeface="Inter Bold" pitchFamily="34" charset="-120"/>
              </a:rPr>
              <a:t>"DO NOT TOUCH" Zones</a:t>
            </a:r>
            <a:endParaRPr lang="en-US" sz="1200" dirty="0"/>
          </a:p>
        </p:txBody>
      </p:sp>
      <p:sp>
        <p:nvSpPr>
          <p:cNvPr id="24" name="Text 21"/>
          <p:cNvSpPr/>
          <p:nvPr/>
        </p:nvSpPr>
        <p:spPr>
          <a:xfrm>
            <a:off x="4686300" y="3903278"/>
            <a:ext cx="3771900" cy="80010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FFFFFF"/>
                </a:solidFill>
                <a:latin typeface="Inter" pitchFamily="34" charset="0"/>
                <a:ea typeface="Inter" pitchFamily="34" charset="-122"/>
                <a:cs typeface="Inter" pitchFamily="34" charset="-120"/>
              </a:rPr>
              <a:t>Establishes protected database rules, branch protection rules, and backup protection rules. WF-03 directly informs WF-05 by supplying the discipline rules that govern daily operations.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22939"/>
          </a:xfrm>
          <a:prstGeom prst="rect">
            <a:avLst/>
          </a:prstGeom>
          <a:solidFill>
            <a:srgbClr val="000000">
              <a:alpha val="0"/>
            </a:srgbClr>
          </a:solidFill>
          <a:ln/>
        </p:spPr>
      </p:sp>
      <p:sp>
        <p:nvSpPr>
          <p:cNvPr id="4" name="Shape 1"/>
          <p:cNvSpPr/>
          <p:nvPr/>
        </p:nvSpPr>
        <p:spPr>
          <a:xfrm>
            <a:off x="571500" y="1322989"/>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WF-04 Converts Institutional Intelligence Into $5,000+ Sovereign System Revenue</a:t>
            </a:r>
            <a:endParaRPr lang="en-US" sz="2450" dirty="0"/>
          </a:p>
        </p:txBody>
      </p:sp>
      <p:sp>
        <p:nvSpPr>
          <p:cNvPr id="6" name="Text 3"/>
          <p:cNvSpPr/>
          <p:nvPr/>
        </p:nvSpPr>
        <p:spPr>
          <a:xfrm>
            <a:off x="571500" y="1380139"/>
            <a:ext cx="8001000" cy="1740061"/>
          </a:xfrm>
          <a:prstGeom prst="rect">
            <a:avLst/>
          </a:prstGeom>
          <a:noFill/>
          <a:ln/>
        </p:spPr>
        <p:txBody>
          <a:bodyPr wrap="square" lIns="0" tIns="0" rIns="0" bIns="0" rtlCol="0" anchor="t">
            <a:spAutoFit/>
          </a:bodyPr>
          <a:lstStyle/>
          <a:p>
            <a:pPr algn="l" indent="0" marL="0">
              <a:lnSpc>
                <a:spcPct val="116000"/>
              </a:lnSpc>
              <a:buNone/>
            </a:pPr>
            <a:r>
              <a:rPr lang="en-US" sz="1250" dirty="0">
                <a:solidFill>
                  <a:srgbClr val="E0E0E0"/>
                </a:solidFill>
                <a:latin typeface="Inter" pitchFamily="34" charset="0"/>
                <a:ea typeface="Inter" pitchFamily="34" charset="-122"/>
                <a:cs typeface="Inter" pitchFamily="34" charset="-120"/>
              </a:rPr>
              <a:t>The Government Contracting Intelligence Engine is the primary capital acquisition workflow. It builds a permanent intelligence structure targeting California procurement, Northern California municipalities, SAM.gov, SBA programs, CalOSBA, BAAQMD, PlanetBids, and OpenGov. It generates RFP trackers, bid scoring systems, contract qualification systems, and AI-assisted workflows for summarizing RFPs, extracting requirements, generating proposal drafts, and performing compliance analysis. All intelligence flows directly into WF-01 to populate the knowledge vault, creating a compounding intelligence loop that improves every future bid.</a:t>
            </a:r>
            <a:endParaRPr lang="en-US" sz="1250" dirty="0"/>
          </a:p>
        </p:txBody>
      </p:sp>
      <p:sp>
        <p:nvSpPr>
          <p:cNvPr id="7" name="Shape 4"/>
          <p:cNvSpPr/>
          <p:nvPr/>
        </p:nvSpPr>
        <p:spPr>
          <a:xfrm>
            <a:off x="571500" y="3586163"/>
            <a:ext cx="8001000" cy="1471613"/>
          </a:xfrm>
          <a:prstGeom prst="rect">
            <a:avLst/>
          </a:prstGeom>
          <a:solidFill>
            <a:srgbClr val="111111"/>
          </a:solidFill>
          <a:ln w="27432">
            <a:solidFill>
              <a:srgbClr val="C9A646"/>
            </a:solidFill>
            <a:prstDash val="solid"/>
          </a:ln>
        </p:spPr>
      </p:sp>
      <p:sp>
        <p:nvSpPr>
          <p:cNvPr id="8" name="Text 5"/>
          <p:cNvSpPr/>
          <p:nvPr/>
        </p:nvSpPr>
        <p:spPr>
          <a:xfrm>
            <a:off x="657225" y="3729038"/>
            <a:ext cx="7829550" cy="314325"/>
          </a:xfrm>
          <a:prstGeom prst="rect">
            <a:avLst/>
          </a:prstGeom>
          <a:noFill/>
          <a:ln/>
        </p:spPr>
        <p:txBody>
          <a:bodyPr wrap="square" lIns="0" tIns="0" rIns="0" bIns="68072" rtlCol="0" anchor="t">
            <a:spAutoFit/>
          </a:bodyPr>
          <a:lstStyle/>
          <a:p>
            <a:pPr algn="l" indent="0" marL="0">
              <a:buNone/>
            </a:pPr>
            <a:r>
              <a:rPr lang="en-US" sz="1400" b="1" dirty="0">
                <a:solidFill>
                  <a:srgbClr val="C9A646"/>
                </a:solidFill>
                <a:latin typeface="Inter Black" pitchFamily="34" charset="0"/>
                <a:ea typeface="Inter Black" pitchFamily="34" charset="-122"/>
                <a:cs typeface="Inter Black" pitchFamily="34" charset="-120"/>
              </a:rPr>
              <a:t>TARGET SYSTEMS</a:t>
            </a:r>
            <a:endParaRPr lang="en-US" sz="1400" dirty="0"/>
          </a:p>
        </p:txBody>
      </p:sp>
      <p:sp>
        <p:nvSpPr>
          <p:cNvPr id="9" name="Shape 6"/>
          <p:cNvSpPr/>
          <p:nvPr/>
        </p:nvSpPr>
        <p:spPr>
          <a:xfrm>
            <a:off x="657225" y="4129088"/>
            <a:ext cx="2552691" cy="378619"/>
          </a:xfrm>
          <a:prstGeom prst="rect">
            <a:avLst/>
          </a:prstGeom>
          <a:solidFill>
            <a:srgbClr val="0B0B0B"/>
          </a:solidFill>
          <a:ln w="18288">
            <a:solidFill>
              <a:srgbClr val="333333"/>
            </a:solidFill>
            <a:prstDash val="solid"/>
          </a:ln>
        </p:spPr>
      </p:sp>
      <p:sp>
        <p:nvSpPr>
          <p:cNvPr id="10" name="Text 7"/>
          <p:cNvSpPr/>
          <p:nvPr/>
        </p:nvSpPr>
        <p:spPr>
          <a:xfrm>
            <a:off x="657225" y="4129088"/>
            <a:ext cx="2552691"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SAM.gov</a:t>
            </a:r>
            <a:endParaRPr lang="en-US" sz="1200" dirty="0"/>
          </a:p>
        </p:txBody>
      </p:sp>
      <p:sp>
        <p:nvSpPr>
          <p:cNvPr id="11" name="Shape 8"/>
          <p:cNvSpPr/>
          <p:nvPr/>
        </p:nvSpPr>
        <p:spPr>
          <a:xfrm>
            <a:off x="3295641" y="4129088"/>
            <a:ext cx="2552691" cy="378619"/>
          </a:xfrm>
          <a:prstGeom prst="rect">
            <a:avLst/>
          </a:prstGeom>
          <a:solidFill>
            <a:srgbClr val="0B0B0B"/>
          </a:solidFill>
          <a:ln w="18288">
            <a:solidFill>
              <a:srgbClr val="333333"/>
            </a:solidFill>
            <a:prstDash val="solid"/>
          </a:ln>
        </p:spPr>
      </p:sp>
      <p:sp>
        <p:nvSpPr>
          <p:cNvPr id="12" name="Text 9"/>
          <p:cNvSpPr/>
          <p:nvPr/>
        </p:nvSpPr>
        <p:spPr>
          <a:xfrm>
            <a:off x="3295641" y="4129088"/>
            <a:ext cx="2552691"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PlanetBids</a:t>
            </a:r>
            <a:endParaRPr lang="en-US" sz="1200" dirty="0"/>
          </a:p>
        </p:txBody>
      </p:sp>
      <p:sp>
        <p:nvSpPr>
          <p:cNvPr id="13" name="Shape 10"/>
          <p:cNvSpPr/>
          <p:nvPr/>
        </p:nvSpPr>
        <p:spPr>
          <a:xfrm>
            <a:off x="5934056" y="4129088"/>
            <a:ext cx="2552719" cy="378619"/>
          </a:xfrm>
          <a:prstGeom prst="rect">
            <a:avLst/>
          </a:prstGeom>
          <a:solidFill>
            <a:srgbClr val="0B0B0B"/>
          </a:solidFill>
          <a:ln w="18288">
            <a:solidFill>
              <a:srgbClr val="333333"/>
            </a:solidFill>
            <a:prstDash val="solid"/>
          </a:ln>
        </p:spPr>
      </p:sp>
      <p:sp>
        <p:nvSpPr>
          <p:cNvPr id="14" name="Text 11"/>
          <p:cNvSpPr/>
          <p:nvPr/>
        </p:nvSpPr>
        <p:spPr>
          <a:xfrm>
            <a:off x="5934056" y="4129088"/>
            <a:ext cx="2552719"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CalOSBA</a:t>
            </a:r>
            <a:endParaRPr lang="en-US" sz="1200" dirty="0"/>
          </a:p>
        </p:txBody>
      </p:sp>
      <p:sp>
        <p:nvSpPr>
          <p:cNvPr id="15" name="Shape 12"/>
          <p:cNvSpPr/>
          <p:nvPr/>
        </p:nvSpPr>
        <p:spPr>
          <a:xfrm>
            <a:off x="657225" y="4593431"/>
            <a:ext cx="2552691" cy="378619"/>
          </a:xfrm>
          <a:prstGeom prst="rect">
            <a:avLst/>
          </a:prstGeom>
          <a:solidFill>
            <a:srgbClr val="0B0B0B"/>
          </a:solidFill>
          <a:ln w="18288">
            <a:solidFill>
              <a:srgbClr val="333333"/>
            </a:solidFill>
            <a:prstDash val="solid"/>
          </a:ln>
        </p:spPr>
      </p:sp>
      <p:sp>
        <p:nvSpPr>
          <p:cNvPr id="16" name="Text 13"/>
          <p:cNvSpPr/>
          <p:nvPr/>
        </p:nvSpPr>
        <p:spPr>
          <a:xfrm>
            <a:off x="657225" y="4593431"/>
            <a:ext cx="2552691"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OpenGov</a:t>
            </a:r>
            <a:endParaRPr lang="en-US" sz="1200" dirty="0"/>
          </a:p>
        </p:txBody>
      </p:sp>
      <p:sp>
        <p:nvSpPr>
          <p:cNvPr id="17" name="Shape 14"/>
          <p:cNvSpPr/>
          <p:nvPr/>
        </p:nvSpPr>
        <p:spPr>
          <a:xfrm>
            <a:off x="3295641" y="4593431"/>
            <a:ext cx="2552691" cy="378619"/>
          </a:xfrm>
          <a:prstGeom prst="rect">
            <a:avLst/>
          </a:prstGeom>
          <a:solidFill>
            <a:srgbClr val="0B0B0B"/>
          </a:solidFill>
          <a:ln w="18288">
            <a:solidFill>
              <a:srgbClr val="333333"/>
            </a:solidFill>
            <a:prstDash val="solid"/>
          </a:ln>
        </p:spPr>
      </p:sp>
      <p:sp>
        <p:nvSpPr>
          <p:cNvPr id="18" name="Text 15"/>
          <p:cNvSpPr/>
          <p:nvPr/>
        </p:nvSpPr>
        <p:spPr>
          <a:xfrm>
            <a:off x="3295641" y="4593431"/>
            <a:ext cx="2552691"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SBA</a:t>
            </a:r>
            <a:endParaRPr lang="en-US" sz="1200" dirty="0"/>
          </a:p>
        </p:txBody>
      </p:sp>
      <p:sp>
        <p:nvSpPr>
          <p:cNvPr id="19" name="Shape 16"/>
          <p:cNvSpPr/>
          <p:nvPr/>
        </p:nvSpPr>
        <p:spPr>
          <a:xfrm>
            <a:off x="5934056" y="4593431"/>
            <a:ext cx="2552719" cy="378619"/>
          </a:xfrm>
          <a:prstGeom prst="rect">
            <a:avLst/>
          </a:prstGeom>
          <a:solidFill>
            <a:srgbClr val="0B0B0B"/>
          </a:solidFill>
          <a:ln w="18288">
            <a:solidFill>
              <a:srgbClr val="333333"/>
            </a:solidFill>
            <a:prstDash val="solid"/>
          </a:ln>
        </p:spPr>
      </p:sp>
      <p:sp>
        <p:nvSpPr>
          <p:cNvPr id="20" name="Text 17"/>
          <p:cNvSpPr/>
          <p:nvPr/>
        </p:nvSpPr>
        <p:spPr>
          <a:xfrm>
            <a:off x="5934056" y="4593431"/>
            <a:ext cx="2552719" cy="378619"/>
          </a:xfrm>
          <a:prstGeom prst="rect">
            <a:avLst/>
          </a:prstGeom>
          <a:noFill/>
          <a:ln/>
        </p:spPr>
        <p:txBody>
          <a:bodyPr wrap="square" lIns="85090" tIns="85090" rIns="85090" bIns="85090" rtlCol="0" anchor="t">
            <a:spAutoFit/>
          </a:bodyPr>
          <a:lstStyle/>
          <a:p>
            <a:pPr algn="ctr" indent="0" marL="0">
              <a:buNone/>
            </a:pPr>
            <a:r>
              <a:rPr lang="en-US" sz="1200" b="1" dirty="0">
                <a:solidFill>
                  <a:srgbClr val="FFFFFF"/>
                </a:solidFill>
                <a:latin typeface="Inter Bold" pitchFamily="34" charset="0"/>
                <a:ea typeface="Inter Bold" pitchFamily="34" charset="-122"/>
                <a:cs typeface="Inter Bold" pitchFamily="34" charset="-120"/>
              </a:rPr>
              <a:t>BAAQMD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77321"/>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WF-05 Governs Every Hour of the Operator's Day With Institutional Discipline</a:t>
            </a:r>
            <a:endParaRPr lang="en-US" sz="2450" dirty="0"/>
          </a:p>
        </p:txBody>
      </p:sp>
      <p:sp>
        <p:nvSpPr>
          <p:cNvPr id="6" name="Text 3"/>
          <p:cNvSpPr/>
          <p:nvPr/>
        </p:nvSpPr>
        <p:spPr>
          <a:xfrm>
            <a:off x="571500" y="1480152"/>
            <a:ext cx="8001000" cy="1920162"/>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E0E0E0"/>
                </a:solidFill>
                <a:latin typeface="Inter" pitchFamily="34" charset="0"/>
                <a:ea typeface="Inter" pitchFamily="34" charset="-122"/>
                <a:cs typeface="Inter" pitchFamily="34" charset="-120"/>
              </a:rPr>
              <a:t>The Personal Sovereign Operating System is the command layer that ties all other workflows </a:t>
            </a:r>
            <a:r>
              <a:rPr lang="en-US" sz="1250" dirty="0">
                <a:solidFill>
                  <a:srgbClr val="E0E0E0"/>
                </a:solidFill>
                <a:latin typeface="Inter" pitchFamily="34" charset="0"/>
                <a:ea typeface="Inter" pitchFamily="34" charset="-122"/>
                <a:cs typeface="Inter" pitchFamily="34" charset="-120"/>
              </a:rPr>
              <a:t>together. It structures the operator's daily rhythm through morning startup procedures, operational </a:t>
            </a:r>
            <a:r>
              <a:rPr lang="en-US" sz="1250" dirty="0">
                <a:solidFill>
                  <a:srgbClr val="E0E0E0"/>
                </a:solidFill>
                <a:latin typeface="Inter" pitchFamily="34" charset="0"/>
                <a:ea typeface="Inter" pitchFamily="34" charset="-122"/>
                <a:cs typeface="Inter" pitchFamily="34" charset="-120"/>
              </a:rPr>
              <a:t>review procedures, and evening shutdown procedures. It enforces </a:t>
            </a:r>
            <a:r>
              <a:rPr lang="en-US" sz="1200" b="1" dirty="0">
                <a:solidFill>
                  <a:srgbClr val="C9A646"/>
                </a:solidFill>
                <a:latin typeface="Inter Bold" pitchFamily="34" charset="0"/>
                <a:ea typeface="Inter Bold" pitchFamily="34" charset="-122"/>
                <a:cs typeface="Inter Bold" pitchFamily="34" charset="-120"/>
              </a:rPr>
              <a:t>AI delegation rules, </a:t>
            </a:r>
            <a:r>
              <a:rPr lang="en-US" sz="1200" b="1" dirty="0">
                <a:solidFill>
                  <a:srgbClr val="C9A646"/>
                </a:solidFill>
                <a:latin typeface="Inter Bold" pitchFamily="34" charset="0"/>
                <a:ea typeface="Inter Bold" pitchFamily="34" charset="-122"/>
                <a:cs typeface="Inter Bold" pitchFamily="34" charset="-120"/>
              </a:rPr>
              <a:t>verification laws, audit laws, and execution discipline systems</a:t>
            </a:r>
            <a:r>
              <a:rPr lang="en-US" sz="1250" dirty="0">
                <a:solidFill>
                  <a:srgbClr val="E0E0E0"/>
                </a:solidFill>
                <a:latin typeface="Inter" pitchFamily="34" charset="0"/>
                <a:ea typeface="Inter" pitchFamily="34" charset="-122"/>
                <a:cs typeface="Inter" pitchFamily="34" charset="-120"/>
              </a:rPr>
              <a:t>. Anti-chaos, anti-overload, and </a:t>
            </a:r>
            <a:r>
              <a:rPr lang="en-US" sz="1250" dirty="0">
                <a:solidFill>
                  <a:srgbClr val="E0E0E0"/>
                </a:solidFill>
                <a:latin typeface="Inter" pitchFamily="34" charset="0"/>
                <a:ea typeface="Inter" pitchFamily="34" charset="-122"/>
                <a:cs typeface="Inter" pitchFamily="34" charset="-120"/>
              </a:rPr>
              <a:t>anti-context-scramble systems prevent operational drift. WF-05 logs all daily operations back into </a:t>
            </a:r>
            <a:r>
              <a:rPr lang="en-US" sz="1250" dirty="0">
                <a:solidFill>
                  <a:srgbClr val="E0E0E0"/>
                </a:solidFill>
                <a:latin typeface="Inter" pitchFamily="34" charset="0"/>
                <a:ea typeface="Inter" pitchFamily="34" charset="-122"/>
                <a:cs typeface="Inter" pitchFamily="34" charset="-120"/>
              </a:rPr>
              <a:t>WF-01, ensuring the knowledge vault remains current. It is designed for one operator, low </a:t>
            </a:r>
            <a:r>
              <a:rPr lang="en-US" sz="1250" dirty="0">
                <a:solidFill>
                  <a:srgbClr val="E0E0E0"/>
                </a:solidFill>
                <a:latin typeface="Inter" pitchFamily="34" charset="0"/>
                <a:ea typeface="Inter" pitchFamily="34" charset="-122"/>
                <a:cs typeface="Inter" pitchFamily="34" charset="-120"/>
              </a:rPr>
              <a:t>overhead, high leverage, and long-term survivability.</a:t>
            </a:r>
            <a:endParaRPr lang="en-US" sz="1250" dirty="0"/>
          </a:p>
        </p:txBody>
      </p:sp>
      <p:sp>
        <p:nvSpPr>
          <p:cNvPr id="7" name="Shape 4"/>
          <p:cNvSpPr/>
          <p:nvPr/>
        </p:nvSpPr>
        <p:spPr>
          <a:xfrm>
            <a:off x="571500" y="3828938"/>
            <a:ext cx="8001000" cy="1319808"/>
          </a:xfrm>
          <a:prstGeom prst="rect">
            <a:avLst/>
          </a:prstGeom>
          <a:solidFill>
            <a:srgbClr val="111111"/>
          </a:solidFill>
          <a:ln w="27432">
            <a:solidFill>
              <a:srgbClr val="333333"/>
            </a:solidFill>
            <a:prstDash val="solid"/>
          </a:ln>
        </p:spPr>
      </p:sp>
      <p:sp>
        <p:nvSpPr>
          <p:cNvPr id="8" name="Shape 5"/>
          <p:cNvSpPr/>
          <p:nvPr/>
        </p:nvSpPr>
        <p:spPr>
          <a:xfrm>
            <a:off x="785813" y="4129869"/>
            <a:ext cx="1285875" cy="660797"/>
          </a:xfrm>
          <a:prstGeom prst="rect">
            <a:avLst/>
          </a:prstGeom>
          <a:solidFill>
            <a:srgbClr val="0B0B0B"/>
          </a:solidFill>
          <a:ln w="18288">
            <a:solidFill>
              <a:srgbClr val="C9A646"/>
            </a:solidFill>
            <a:prstDash val="solid"/>
          </a:ln>
        </p:spPr>
      </p:sp>
      <p:sp>
        <p:nvSpPr>
          <p:cNvPr id="9" name="Text 6"/>
          <p:cNvSpPr/>
          <p:nvPr/>
        </p:nvSpPr>
        <p:spPr>
          <a:xfrm>
            <a:off x="785813" y="4129869"/>
            <a:ext cx="1285875" cy="660797"/>
          </a:xfrm>
          <a:prstGeom prst="rect">
            <a:avLst/>
          </a:prstGeom>
          <a:noFill/>
          <a:ln/>
        </p:spPr>
        <p:txBody>
          <a:bodyPr wrap="none" lIns="127508" tIns="170053" rIns="127508" bIns="170053"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MORNING</a:t>
            </a:r>
            <a:r>
              <a:rPr lang="en-US" sz="1000" b="1" dirty="0">
                <a:solidFill>
                  <a:srgbClr val="C9A646"/>
                </a:solidFill>
                <a:latin typeface="Inter Bold" pitchFamily="34" charset="0"/>
                <a:ea typeface="Inter Bold" pitchFamily="34" charset="-122"/>
                <a:cs typeface="Inter Bold" pitchFamily="34" charset="-120"/>
              </a:rPr>
              <a:t>
</a:t>
            </a:r>
            <a:r>
              <a:rPr lang="en-US" sz="1000" b="1" dirty="0">
                <a:solidFill>
                  <a:srgbClr val="C9A646"/>
                </a:solidFill>
                <a:latin typeface="Inter Bold" pitchFamily="34" charset="0"/>
                <a:ea typeface="Inter Bold" pitchFamily="34" charset="-122"/>
                <a:cs typeface="Inter Bold" pitchFamily="34" charset="-120"/>
              </a:rPr>
              <a:t>STARTUP</a:t>
            </a:r>
            <a:endParaRPr lang="en-US" sz="1000" dirty="0"/>
          </a:p>
        </p:txBody>
      </p:sp>
      <p:sp>
        <p:nvSpPr>
          <p:cNvPr id="10" name="Text 7"/>
          <p:cNvSpPr/>
          <p:nvPr/>
        </p:nvSpPr>
        <p:spPr>
          <a:xfrm>
            <a:off x="2100263" y="4321857"/>
            <a:ext cx="228600" cy="276820"/>
          </a:xfrm>
          <a:prstGeom prst="rect">
            <a:avLst/>
          </a:prstGeom>
          <a:noFill/>
          <a:ln/>
        </p:spPr>
        <p:txBody>
          <a:bodyPr wrap="none" lIns="0" tIns="0" rIns="0" bIns="0" rtlCol="0" anchor="t">
            <a:spAutoFit/>
          </a:bodyPr>
          <a:lstStyle/>
          <a:p>
            <a:pPr algn="l" indent="0" marL="0">
              <a:buNone/>
            </a:pPr>
            <a:r>
              <a:rPr lang="en-US" sz="1600" b="1" dirty="0">
                <a:solidFill>
                  <a:srgbClr val="666666"/>
                </a:solidFill>
                <a:latin typeface="Inter Black" pitchFamily="34" charset="0"/>
                <a:ea typeface="Inter Black" pitchFamily="34" charset="-122"/>
                <a:cs typeface="Inter Black" pitchFamily="34" charset="-120"/>
              </a:rPr>
              <a:t>→</a:t>
            </a:r>
            <a:endParaRPr lang="en-US" sz="1600" dirty="0"/>
          </a:p>
        </p:txBody>
      </p:sp>
      <p:sp>
        <p:nvSpPr>
          <p:cNvPr id="11" name="Shape 8"/>
          <p:cNvSpPr/>
          <p:nvPr/>
        </p:nvSpPr>
        <p:spPr>
          <a:xfrm>
            <a:off x="2357438" y="4129869"/>
            <a:ext cx="1285875" cy="660797"/>
          </a:xfrm>
          <a:prstGeom prst="rect">
            <a:avLst/>
          </a:prstGeom>
          <a:solidFill>
            <a:srgbClr val="0B0B0B"/>
          </a:solidFill>
          <a:ln w="18288">
            <a:solidFill>
              <a:srgbClr val="C9A646"/>
            </a:solidFill>
            <a:prstDash val="solid"/>
          </a:ln>
        </p:spPr>
      </p:sp>
      <p:sp>
        <p:nvSpPr>
          <p:cNvPr id="12" name="Text 9"/>
          <p:cNvSpPr/>
          <p:nvPr/>
        </p:nvSpPr>
        <p:spPr>
          <a:xfrm>
            <a:off x="2357438" y="4129869"/>
            <a:ext cx="1285875" cy="660797"/>
          </a:xfrm>
          <a:prstGeom prst="rect">
            <a:avLst/>
          </a:prstGeom>
          <a:noFill/>
          <a:ln/>
        </p:spPr>
        <p:txBody>
          <a:bodyPr wrap="none" lIns="127508" tIns="170053" rIns="127508" bIns="170053"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OPERATIONAL</a:t>
            </a:r>
            <a:r>
              <a:rPr lang="en-US" sz="1000" b="1" dirty="0">
                <a:solidFill>
                  <a:srgbClr val="C9A646"/>
                </a:solidFill>
                <a:latin typeface="Inter Bold" pitchFamily="34" charset="0"/>
                <a:ea typeface="Inter Bold" pitchFamily="34" charset="-122"/>
                <a:cs typeface="Inter Bold" pitchFamily="34" charset="-120"/>
              </a:rPr>
              <a:t>
</a:t>
            </a:r>
            <a:r>
              <a:rPr lang="en-US" sz="1000" b="1" dirty="0">
                <a:solidFill>
                  <a:srgbClr val="C9A646"/>
                </a:solidFill>
                <a:latin typeface="Inter Bold" pitchFamily="34" charset="0"/>
                <a:ea typeface="Inter Bold" pitchFamily="34" charset="-122"/>
                <a:cs typeface="Inter Bold" pitchFamily="34" charset="-120"/>
              </a:rPr>
              <a:t>REVIEW</a:t>
            </a:r>
            <a:endParaRPr lang="en-US" sz="1000" dirty="0"/>
          </a:p>
        </p:txBody>
      </p:sp>
      <p:sp>
        <p:nvSpPr>
          <p:cNvPr id="13" name="Text 10"/>
          <p:cNvSpPr/>
          <p:nvPr/>
        </p:nvSpPr>
        <p:spPr>
          <a:xfrm>
            <a:off x="3671888" y="4321857"/>
            <a:ext cx="228600" cy="276820"/>
          </a:xfrm>
          <a:prstGeom prst="rect">
            <a:avLst/>
          </a:prstGeom>
          <a:noFill/>
          <a:ln/>
        </p:spPr>
        <p:txBody>
          <a:bodyPr wrap="none" lIns="0" tIns="0" rIns="0" bIns="0" rtlCol="0" anchor="t">
            <a:spAutoFit/>
          </a:bodyPr>
          <a:lstStyle/>
          <a:p>
            <a:pPr algn="l" indent="0" marL="0">
              <a:buNone/>
            </a:pPr>
            <a:r>
              <a:rPr lang="en-US" sz="1600" b="1" dirty="0">
                <a:solidFill>
                  <a:srgbClr val="666666"/>
                </a:solidFill>
                <a:latin typeface="Inter Black" pitchFamily="34" charset="0"/>
                <a:ea typeface="Inter Black" pitchFamily="34" charset="-122"/>
                <a:cs typeface="Inter Black" pitchFamily="34" charset="-120"/>
              </a:rPr>
              <a:t>→</a:t>
            </a:r>
            <a:endParaRPr lang="en-US" sz="1600" dirty="0"/>
          </a:p>
        </p:txBody>
      </p:sp>
      <p:sp>
        <p:nvSpPr>
          <p:cNvPr id="14" name="Shape 11"/>
          <p:cNvSpPr/>
          <p:nvPr/>
        </p:nvSpPr>
        <p:spPr>
          <a:xfrm>
            <a:off x="3929063" y="4129869"/>
            <a:ext cx="1285875" cy="660797"/>
          </a:xfrm>
          <a:prstGeom prst="rect">
            <a:avLst/>
          </a:prstGeom>
          <a:solidFill>
            <a:srgbClr val="0B0B0B"/>
          </a:solidFill>
          <a:ln w="18288">
            <a:solidFill>
              <a:srgbClr val="C9A646"/>
            </a:solidFill>
            <a:prstDash val="solid"/>
          </a:ln>
        </p:spPr>
      </p:sp>
      <p:sp>
        <p:nvSpPr>
          <p:cNvPr id="15" name="Text 12"/>
          <p:cNvSpPr/>
          <p:nvPr/>
        </p:nvSpPr>
        <p:spPr>
          <a:xfrm>
            <a:off x="3929063" y="4129869"/>
            <a:ext cx="1285875" cy="660797"/>
          </a:xfrm>
          <a:prstGeom prst="rect">
            <a:avLst/>
          </a:prstGeom>
          <a:noFill/>
          <a:ln/>
        </p:spPr>
        <p:txBody>
          <a:bodyPr wrap="none" lIns="127508" tIns="170053" rIns="127508" bIns="170053"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EXECUTION</a:t>
            </a:r>
            <a:r>
              <a:rPr lang="en-US" sz="1000" b="1" dirty="0">
                <a:solidFill>
                  <a:srgbClr val="C9A646"/>
                </a:solidFill>
                <a:latin typeface="Inter Bold" pitchFamily="34" charset="0"/>
                <a:ea typeface="Inter Bold" pitchFamily="34" charset="-122"/>
                <a:cs typeface="Inter Bold" pitchFamily="34" charset="-120"/>
              </a:rPr>
              <a:t>
</a:t>
            </a:r>
            <a:r>
              <a:rPr lang="en-US" sz="1000" b="1" dirty="0">
                <a:solidFill>
                  <a:srgbClr val="C9A646"/>
                </a:solidFill>
                <a:latin typeface="Inter Bold" pitchFamily="34" charset="0"/>
                <a:ea typeface="Inter Bold" pitchFamily="34" charset="-122"/>
                <a:cs typeface="Inter Bold" pitchFamily="34" charset="-120"/>
              </a:rPr>
              <a:t>PHASE</a:t>
            </a:r>
            <a:endParaRPr lang="en-US" sz="1000" dirty="0"/>
          </a:p>
        </p:txBody>
      </p:sp>
      <p:sp>
        <p:nvSpPr>
          <p:cNvPr id="16" name="Text 13"/>
          <p:cNvSpPr/>
          <p:nvPr/>
        </p:nvSpPr>
        <p:spPr>
          <a:xfrm>
            <a:off x="5243513" y="4321857"/>
            <a:ext cx="228600" cy="276820"/>
          </a:xfrm>
          <a:prstGeom prst="rect">
            <a:avLst/>
          </a:prstGeom>
          <a:noFill/>
          <a:ln/>
        </p:spPr>
        <p:txBody>
          <a:bodyPr wrap="none" lIns="0" tIns="0" rIns="0" bIns="0" rtlCol="0" anchor="t">
            <a:spAutoFit/>
          </a:bodyPr>
          <a:lstStyle/>
          <a:p>
            <a:pPr algn="l" indent="0" marL="0">
              <a:buNone/>
            </a:pPr>
            <a:r>
              <a:rPr lang="en-US" sz="1600" b="1" dirty="0">
                <a:solidFill>
                  <a:srgbClr val="666666"/>
                </a:solidFill>
                <a:latin typeface="Inter Black" pitchFamily="34" charset="0"/>
                <a:ea typeface="Inter Black" pitchFamily="34" charset="-122"/>
                <a:cs typeface="Inter Black" pitchFamily="34" charset="-120"/>
              </a:rPr>
              <a:t>→</a:t>
            </a:r>
            <a:endParaRPr lang="en-US" sz="1600" dirty="0"/>
          </a:p>
        </p:txBody>
      </p:sp>
      <p:sp>
        <p:nvSpPr>
          <p:cNvPr id="17" name="Shape 14"/>
          <p:cNvSpPr/>
          <p:nvPr/>
        </p:nvSpPr>
        <p:spPr>
          <a:xfrm>
            <a:off x="5500688" y="4129869"/>
            <a:ext cx="1285875" cy="660797"/>
          </a:xfrm>
          <a:prstGeom prst="rect">
            <a:avLst/>
          </a:prstGeom>
          <a:solidFill>
            <a:srgbClr val="0B0B0B"/>
          </a:solidFill>
          <a:ln w="18288">
            <a:solidFill>
              <a:srgbClr val="C9A646"/>
            </a:solidFill>
            <a:prstDash val="solid"/>
          </a:ln>
        </p:spPr>
      </p:sp>
      <p:sp>
        <p:nvSpPr>
          <p:cNvPr id="18" name="Text 15"/>
          <p:cNvSpPr/>
          <p:nvPr/>
        </p:nvSpPr>
        <p:spPr>
          <a:xfrm>
            <a:off x="5500688" y="4129869"/>
            <a:ext cx="1285875" cy="660797"/>
          </a:xfrm>
          <a:prstGeom prst="rect">
            <a:avLst/>
          </a:prstGeom>
          <a:noFill/>
          <a:ln/>
        </p:spPr>
        <p:txBody>
          <a:bodyPr wrap="none" lIns="127508" tIns="170053" rIns="127508" bIns="170053"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EVENING</a:t>
            </a:r>
            <a:r>
              <a:rPr lang="en-US" sz="1000" b="1" dirty="0">
                <a:solidFill>
                  <a:srgbClr val="C9A646"/>
                </a:solidFill>
                <a:latin typeface="Inter Bold" pitchFamily="34" charset="0"/>
                <a:ea typeface="Inter Bold" pitchFamily="34" charset="-122"/>
                <a:cs typeface="Inter Bold" pitchFamily="34" charset="-120"/>
              </a:rPr>
              <a:t>
</a:t>
            </a:r>
            <a:r>
              <a:rPr lang="en-US" sz="1000" b="1" dirty="0">
                <a:solidFill>
                  <a:srgbClr val="C9A646"/>
                </a:solidFill>
                <a:latin typeface="Inter Bold" pitchFamily="34" charset="0"/>
                <a:ea typeface="Inter Bold" pitchFamily="34" charset="-122"/>
                <a:cs typeface="Inter Bold" pitchFamily="34" charset="-120"/>
              </a:rPr>
              <a:t>SHUTDOWN</a:t>
            </a:r>
            <a:endParaRPr lang="en-US" sz="1000" dirty="0"/>
          </a:p>
        </p:txBody>
      </p:sp>
      <p:sp>
        <p:nvSpPr>
          <p:cNvPr id="19" name="Text 16"/>
          <p:cNvSpPr/>
          <p:nvPr/>
        </p:nvSpPr>
        <p:spPr>
          <a:xfrm>
            <a:off x="6815138" y="4321857"/>
            <a:ext cx="228600" cy="276820"/>
          </a:xfrm>
          <a:prstGeom prst="rect">
            <a:avLst/>
          </a:prstGeom>
          <a:noFill/>
          <a:ln/>
        </p:spPr>
        <p:txBody>
          <a:bodyPr wrap="none" lIns="0" tIns="0" rIns="0" bIns="0" rtlCol="0" anchor="t">
            <a:spAutoFit/>
          </a:bodyPr>
          <a:lstStyle/>
          <a:p>
            <a:pPr algn="l" indent="0" marL="0">
              <a:buNone/>
            </a:pPr>
            <a:r>
              <a:rPr lang="en-US" sz="1600" b="1" dirty="0">
                <a:solidFill>
                  <a:srgbClr val="666666"/>
                </a:solidFill>
                <a:latin typeface="Inter Black" pitchFamily="34" charset="0"/>
                <a:ea typeface="Inter Black" pitchFamily="34" charset="-122"/>
                <a:cs typeface="Inter Black" pitchFamily="34" charset="-120"/>
              </a:rPr>
              <a:t>→</a:t>
            </a:r>
            <a:endParaRPr lang="en-US" sz="1600" dirty="0"/>
          </a:p>
        </p:txBody>
      </p:sp>
      <p:sp>
        <p:nvSpPr>
          <p:cNvPr id="20" name="Shape 17"/>
          <p:cNvSpPr/>
          <p:nvPr/>
        </p:nvSpPr>
        <p:spPr>
          <a:xfrm>
            <a:off x="7072313" y="4043251"/>
            <a:ext cx="1285875" cy="834033"/>
          </a:xfrm>
          <a:prstGeom prst="rect">
            <a:avLst/>
          </a:prstGeom>
          <a:solidFill>
            <a:srgbClr val="0B0B0B"/>
          </a:solidFill>
          <a:ln w="18288">
            <a:solidFill>
              <a:srgbClr val="C9A646"/>
            </a:solidFill>
            <a:prstDash val="solid"/>
          </a:ln>
        </p:spPr>
      </p:sp>
      <p:sp>
        <p:nvSpPr>
          <p:cNvPr id="21" name="Text 18"/>
          <p:cNvSpPr/>
          <p:nvPr/>
        </p:nvSpPr>
        <p:spPr>
          <a:xfrm>
            <a:off x="7072313" y="4043251"/>
            <a:ext cx="1285875" cy="834033"/>
          </a:xfrm>
          <a:prstGeom prst="rect">
            <a:avLst/>
          </a:prstGeom>
          <a:noFill/>
          <a:ln/>
        </p:spPr>
        <p:txBody>
          <a:bodyPr wrap="none" lIns="127508" tIns="170053" rIns="127508" bIns="170053" rtlCol="0" anchor="t">
            <a:spAutoFit/>
          </a:bodyPr>
          <a:lstStyle/>
          <a:p>
            <a:pPr algn="ctr" indent="0" marL="0">
              <a:buNone/>
            </a:pPr>
            <a:r>
              <a:rPr lang="en-US" sz="1000" b="1" dirty="0">
                <a:solidFill>
                  <a:srgbClr val="C9A646"/>
                </a:solidFill>
                <a:latin typeface="Inter Bold" pitchFamily="34" charset="0"/>
                <a:ea typeface="Inter Bold" pitchFamily="34" charset="-122"/>
                <a:cs typeface="Inter Bold" pitchFamily="34" charset="-120"/>
              </a:rPr>
              <a:t>WEEKLY / </a:t>
            </a:r>
            <a:r>
              <a:rPr lang="en-US" sz="1000" b="1" dirty="0">
                <a:solidFill>
                  <a:srgbClr val="C9A646"/>
                </a:solidFill>
                <a:latin typeface="Inter Bold" pitchFamily="34" charset="0"/>
                <a:ea typeface="Inter Bold" pitchFamily="34" charset="-122"/>
                <a:cs typeface="Inter Bold" pitchFamily="34" charset="-120"/>
              </a:rPr>
              <a:t>MONTHLY</a:t>
            </a:r>
            <a:r>
              <a:rPr lang="en-US" sz="1000" b="1" dirty="0">
                <a:solidFill>
                  <a:srgbClr val="C9A646"/>
                </a:solidFill>
                <a:latin typeface="Inter Bold" pitchFamily="34" charset="0"/>
                <a:ea typeface="Inter Bold" pitchFamily="34" charset="-122"/>
                <a:cs typeface="Inter Bold" pitchFamily="34" charset="-120"/>
              </a:rPr>
              <a:t>
</a:t>
            </a:r>
            <a:r>
              <a:rPr lang="en-US" sz="1000" b="1" dirty="0">
                <a:solidFill>
                  <a:srgbClr val="C9A646"/>
                </a:solidFill>
                <a:latin typeface="Inter Bold" pitchFamily="34" charset="0"/>
                <a:ea typeface="Inter Bold" pitchFamily="34" charset="-122"/>
                <a:cs typeface="Inter Bold" pitchFamily="34" charset="-120"/>
              </a:rPr>
              <a:t>REVIEW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The Five Workflows Form a Self-Reinforcing Sovereign Intelligence Loop</a:t>
            </a:r>
            <a:endParaRPr lang="en-US" sz="2450" dirty="0"/>
          </a:p>
        </p:txBody>
      </p:sp>
      <p:sp>
        <p:nvSpPr>
          <p:cNvPr id="6" name="Text 3"/>
          <p:cNvSpPr/>
          <p:nvPr/>
        </p:nvSpPr>
        <p:spPr>
          <a:xfrm>
            <a:off x="571500" y="1423002"/>
            <a:ext cx="3807619" cy="942975"/>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E0E0E0"/>
                </a:solidFill>
                <a:latin typeface="Inter" pitchFamily="34" charset="0"/>
                <a:ea typeface="Inter" pitchFamily="34" charset="-122"/>
                <a:cs typeface="Inter" pitchFamily="34" charset="-120"/>
              </a:rPr>
              <a:t>The five workflows are not independent — they form a closed-loop system. The Sovereign Operator sits at the apex, directing all five workflows.</a:t>
            </a:r>
            <a:endParaRPr lang="en-US" sz="1150" dirty="0"/>
          </a:p>
        </p:txBody>
      </p:sp>
      <p:sp>
        <p:nvSpPr>
          <p:cNvPr id="7" name="Text 4"/>
          <p:cNvSpPr/>
          <p:nvPr/>
        </p:nvSpPr>
        <p:spPr>
          <a:xfrm>
            <a:off x="571500" y="2451702"/>
            <a:ext cx="3807619" cy="942975"/>
          </a:xfrm>
          <a:prstGeom prst="rect">
            <a:avLst/>
          </a:prstGeom>
          <a:noFill/>
          <a:ln/>
        </p:spPr>
        <p:txBody>
          <a:bodyPr wrap="square" lIns="0" tIns="0" rIns="0" bIns="0" rtlCol="0" anchor="t">
            <a:spAutoFit/>
          </a:bodyPr>
          <a:lstStyle/>
          <a:p>
            <a:pPr algn="l" indent="0" marL="0">
              <a:lnSpc>
                <a:spcPct val="120000"/>
              </a:lnSpc>
              <a:buNone/>
            </a:pPr>
            <a:r>
              <a:rPr lang="en-US" sz="1100" b="1" dirty="0">
                <a:solidFill>
                  <a:srgbClr val="C9A646"/>
                </a:solidFill>
                <a:latin typeface="Inter Bold" pitchFamily="34" charset="0"/>
                <a:ea typeface="Inter Bold" pitchFamily="34" charset="-122"/>
                <a:cs typeface="Inter Bold" pitchFamily="34" charset="-120"/>
              </a:rPr>
              <a:t>WF-01 (Knowledge Vault)</a:t>
            </a:r>
            <a:r>
              <a:rPr lang="en-US" sz="1150" dirty="0">
                <a:solidFill>
                  <a:srgbClr val="E0E0E0"/>
                </a:solidFill>
                <a:latin typeface="Inter" pitchFamily="34" charset="0"/>
                <a:ea typeface="Inter" pitchFamily="34" charset="-122"/>
                <a:cs typeface="Inter" pitchFamily="34" charset="-120"/>
              </a:rPr>
              <a:t> is the central hub: WF-</a:t>
            </a:r>
            <a:r>
              <a:rPr lang="en-US" sz="1150" dirty="0">
                <a:solidFill>
                  <a:srgbClr val="E0E0E0"/>
                </a:solidFill>
                <a:latin typeface="Inter" pitchFamily="34" charset="0"/>
                <a:ea typeface="Inter" pitchFamily="34" charset="-122"/>
                <a:cs typeface="Inter" pitchFamily="34" charset="-120"/>
              </a:rPr>
              <a:t>04 populates it with contracting intelligence, WF-</a:t>
            </a:r>
            <a:r>
              <a:rPr lang="en-US" sz="1150" dirty="0">
                <a:solidFill>
                  <a:srgbClr val="E0E0E0"/>
                </a:solidFill>
                <a:latin typeface="Inter" pitchFamily="34" charset="0"/>
                <a:ea typeface="Inter" pitchFamily="34" charset="-122"/>
                <a:cs typeface="Inter" pitchFamily="34" charset="-120"/>
              </a:rPr>
              <a:t>05 logs daily operations into it, and WF-03 </a:t>
            </a:r>
            <a:r>
              <a:rPr lang="en-US" sz="1150" dirty="0">
                <a:solidFill>
                  <a:srgbClr val="E0E0E0"/>
                </a:solidFill>
                <a:latin typeface="Inter" pitchFamily="34" charset="0"/>
                <a:ea typeface="Inter" pitchFamily="34" charset="-122"/>
                <a:cs typeface="Inter" pitchFamily="34" charset="-120"/>
              </a:rPr>
              <a:t>archives recovery data within it.</a:t>
            </a:r>
            <a:endParaRPr lang="en-US" sz="1150" dirty="0"/>
          </a:p>
        </p:txBody>
      </p:sp>
      <p:sp>
        <p:nvSpPr>
          <p:cNvPr id="8" name="Text 5"/>
          <p:cNvSpPr/>
          <p:nvPr/>
        </p:nvSpPr>
        <p:spPr>
          <a:xfrm>
            <a:off x="571500" y="3480402"/>
            <a:ext cx="3807619" cy="1178719"/>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E0E0E0"/>
                </a:solidFill>
                <a:latin typeface="Inter" pitchFamily="34" charset="0"/>
                <a:ea typeface="Inter" pitchFamily="34" charset="-122"/>
                <a:cs typeface="Inter" pitchFamily="34" charset="-120"/>
              </a:rPr>
              <a:t>WF-01 feeds training material into WF-02. WF-03 informs the discipline rules of WF-05. All five workflows produce Agent Prompts and Execution Tools, which are indexed in the MASTER_INDEX and pushed to the GitHub repository.</a:t>
            </a:r>
            <a:endParaRPr lang="en-US" sz="1150" dirty="0"/>
          </a:p>
        </p:txBody>
      </p:sp>
      <p:sp>
        <p:nvSpPr>
          <p:cNvPr id="9" name="Shape 6"/>
          <p:cNvSpPr/>
          <p:nvPr/>
        </p:nvSpPr>
        <p:spPr>
          <a:xfrm>
            <a:off x="4593431" y="1423002"/>
            <a:ext cx="3979069" cy="3286125"/>
          </a:xfrm>
          <a:prstGeom prst="rect">
            <a:avLst/>
          </a:prstGeom>
          <a:solidFill>
            <a:srgbClr val="111111"/>
          </a:solidFill>
          <a:ln w="27432">
            <a:solidFill>
              <a:srgbClr val="C9A646"/>
            </a:solidFill>
            <a:prstDash val="solid"/>
          </a:ln>
        </p:spPr>
      </p:sp>
      <p:pic>
        <p:nvPicPr>
          <p:cNvPr id="10" name="Image 1" descr="preencoded.png">    </p:cNvPr>
          <p:cNvPicPr>
            <a:picLocks noChangeAspect="1"/>
          </p:cNvPicPr>
          <p:nvPr/>
        </p:nvPicPr>
        <p:blipFill>
          <a:blip r:embed="rId2"/>
          <a:stretch>
            <a:fillRect/>
          </a:stretch>
        </p:blipFill>
        <p:spPr>
          <a:xfrm>
            <a:off x="4679156" y="1480152"/>
            <a:ext cx="3836194" cy="31718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403856"/>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The Real Asset Is Not the AI Tool — It Is the Institutional Memory You Build With It</a:t>
            </a:r>
            <a:endParaRPr lang="en-US" sz="2450" dirty="0"/>
          </a:p>
        </p:txBody>
      </p:sp>
      <p:sp>
        <p:nvSpPr>
          <p:cNvPr id="6" name="Text 3"/>
          <p:cNvSpPr/>
          <p:nvPr/>
        </p:nvSpPr>
        <p:spPr>
          <a:xfrm>
            <a:off x="571500" y="1394427"/>
            <a:ext cx="8001000" cy="1650206"/>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E0E0E0"/>
                </a:solidFill>
                <a:latin typeface="Inter" pitchFamily="34" charset="0"/>
                <a:ea typeface="Inter" pitchFamily="34" charset="-122"/>
                <a:cs typeface="Inter" pitchFamily="34" charset="-120"/>
              </a:rPr>
              <a:t>The long-term value of this system is not dependent on any single AI platform, model, or tool. It is the </a:t>
            </a:r>
            <a:r>
              <a:rPr lang="en-US" sz="1150" dirty="0">
                <a:solidFill>
                  <a:srgbClr val="E0E0E0"/>
                </a:solidFill>
                <a:latin typeface="Inter" pitchFamily="34" charset="0"/>
                <a:ea typeface="Inter" pitchFamily="34" charset="-122"/>
                <a:cs typeface="Inter" pitchFamily="34" charset="-120"/>
              </a:rPr>
              <a:t>documented systems, operational discipline, indexed intelligence, SOPs, recovery systems, governance </a:t>
            </a:r>
            <a:r>
              <a:rPr lang="en-US" sz="1150" dirty="0">
                <a:solidFill>
                  <a:srgbClr val="E0E0E0"/>
                </a:solidFill>
                <a:latin typeface="Inter" pitchFamily="34" charset="0"/>
                <a:ea typeface="Inter" pitchFamily="34" charset="-122"/>
                <a:cs typeface="Inter" pitchFamily="34" charset="-120"/>
              </a:rPr>
              <a:t>frameworks, architecture, and training systems that compound in value over decades. Every workflow, </a:t>
            </a:r>
            <a:r>
              <a:rPr lang="en-US" sz="1150" dirty="0">
                <a:solidFill>
                  <a:srgbClr val="E0E0E0"/>
                </a:solidFill>
                <a:latin typeface="Inter" pitchFamily="34" charset="0"/>
                <a:ea typeface="Inter" pitchFamily="34" charset="-122"/>
                <a:cs typeface="Inter" pitchFamily="34" charset="-120"/>
              </a:rPr>
              <a:t>agent, and tool generated today becomes a permanent operational asset that future contractors, </a:t>
            </a:r>
            <a:r>
              <a:rPr lang="en-US" sz="1150" dirty="0">
                <a:solidFill>
                  <a:srgbClr val="E0E0E0"/>
                </a:solidFill>
                <a:latin typeface="Inter" pitchFamily="34" charset="0"/>
                <a:ea typeface="Inter" pitchFamily="34" charset="-122"/>
                <a:cs typeface="Inter" pitchFamily="34" charset="-120"/>
              </a:rPr>
              <a:t>employees, vendors, and AI systems can reference, execute, and build upon. This is the Prime Pathwy </a:t>
            </a:r>
            <a:r>
              <a:rPr lang="en-US" sz="1150" dirty="0">
                <a:solidFill>
                  <a:srgbClr val="E0E0E0"/>
                </a:solidFill>
                <a:latin typeface="Inter" pitchFamily="34" charset="0"/>
                <a:ea typeface="Inter" pitchFamily="34" charset="-122"/>
                <a:cs typeface="Inter" pitchFamily="34" charset="-120"/>
              </a:rPr>
              <a:t>doctrine: </a:t>
            </a:r>
            <a:r>
              <a:rPr lang="en-US" sz="1100" b="1" dirty="0">
                <a:solidFill>
                  <a:srgbClr val="C9A646"/>
                </a:solidFill>
                <a:latin typeface="Inter Bold" pitchFamily="34" charset="0"/>
                <a:ea typeface="Inter Bold" pitchFamily="34" charset="-122"/>
                <a:cs typeface="Inter Bold" pitchFamily="34" charset="-120"/>
              </a:rPr>
              <a:t>Systems over Labor. Documentation over Assumption. Institutional Memory over Temporary </a:t>
            </a:r>
            <a:r>
              <a:rPr lang="en-US" sz="1100" b="1" dirty="0">
                <a:solidFill>
                  <a:srgbClr val="C9A646"/>
                </a:solidFill>
                <a:latin typeface="Inter Bold" pitchFamily="34" charset="0"/>
                <a:ea typeface="Inter Bold" pitchFamily="34" charset="-122"/>
                <a:cs typeface="Inter Bold" pitchFamily="34" charset="-120"/>
              </a:rPr>
              <a:t>Output.</a:t>
            </a:r>
            <a:endParaRPr lang="en-US" sz="1150" dirty="0"/>
          </a:p>
        </p:txBody>
      </p:sp>
      <p:sp>
        <p:nvSpPr>
          <p:cNvPr id="7" name="Shape 4"/>
          <p:cNvSpPr/>
          <p:nvPr/>
        </p:nvSpPr>
        <p:spPr>
          <a:xfrm>
            <a:off x="571500" y="3130358"/>
            <a:ext cx="8001000" cy="2244923"/>
          </a:xfrm>
          <a:prstGeom prst="rect">
            <a:avLst/>
          </a:prstGeom>
          <a:solidFill>
            <a:srgbClr val="111111"/>
          </a:solidFill>
          <a:ln w="27432">
            <a:solidFill>
              <a:srgbClr val="C9A646"/>
            </a:solidFill>
            <a:prstDash val="solid"/>
          </a:ln>
        </p:spPr>
      </p:sp>
      <p:sp>
        <p:nvSpPr>
          <p:cNvPr id="8" name="Shape 5"/>
          <p:cNvSpPr/>
          <p:nvPr/>
        </p:nvSpPr>
        <p:spPr>
          <a:xfrm>
            <a:off x="571500" y="3130358"/>
            <a:ext cx="2372646" cy="428625"/>
          </a:xfrm>
          <a:prstGeom prst="rect">
            <a:avLst/>
          </a:prstGeom>
          <a:solidFill>
            <a:srgbClr val="1A1A1A"/>
          </a:solidFill>
          <a:ln/>
        </p:spPr>
      </p:sp>
      <p:sp>
        <p:nvSpPr>
          <p:cNvPr id="9" name="Shape 6"/>
          <p:cNvSpPr/>
          <p:nvPr/>
        </p:nvSpPr>
        <p:spPr>
          <a:xfrm>
            <a:off x="2929858" y="3130358"/>
            <a:ext cx="14288" cy="428625"/>
          </a:xfrm>
          <a:prstGeom prst="rect">
            <a:avLst/>
          </a:prstGeom>
          <a:solidFill>
            <a:srgbClr val="333333"/>
          </a:solidFill>
          <a:ln/>
        </p:spPr>
      </p:sp>
      <p:sp>
        <p:nvSpPr>
          <p:cNvPr id="10" name="Shape 7"/>
          <p:cNvSpPr/>
          <p:nvPr/>
        </p:nvSpPr>
        <p:spPr>
          <a:xfrm>
            <a:off x="571500" y="3544695"/>
            <a:ext cx="2372646" cy="14288"/>
          </a:xfrm>
          <a:prstGeom prst="rect">
            <a:avLst/>
          </a:prstGeom>
          <a:solidFill>
            <a:srgbClr val="C9A646"/>
          </a:solidFill>
          <a:ln/>
        </p:spPr>
      </p:sp>
      <p:sp>
        <p:nvSpPr>
          <p:cNvPr id="11" name="Text 8"/>
          <p:cNvSpPr/>
          <p:nvPr/>
        </p:nvSpPr>
        <p:spPr>
          <a:xfrm>
            <a:off x="571500" y="3130358"/>
            <a:ext cx="2372646" cy="428625"/>
          </a:xfrm>
          <a:prstGeom prst="rect">
            <a:avLst/>
          </a:prstGeom>
          <a:noFill/>
          <a:ln/>
        </p:spPr>
        <p:txBody>
          <a:bodyPr wrap="square" lIns="170053" tIns="127508" rIns="170053" bIns="127508" rtlCol="0" anchor="ctr">
            <a:spAutoFit/>
          </a:bodyPr>
          <a:lstStyle/>
          <a:p>
            <a:pPr algn="l" indent="0" marL="0">
              <a:buNone/>
            </a:pPr>
            <a:r>
              <a:rPr lang="en-US" sz="1200" b="1" dirty="0">
                <a:solidFill>
                  <a:srgbClr val="C9A646"/>
                </a:solidFill>
                <a:latin typeface="Inter Black" pitchFamily="34" charset="0"/>
                <a:ea typeface="Inter Black" pitchFamily="34" charset="-122"/>
                <a:cs typeface="Inter Black" pitchFamily="34" charset="-120"/>
              </a:rPr>
              <a:t>ASSET TYPE</a:t>
            </a:r>
            <a:endParaRPr lang="en-US" sz="1200" dirty="0"/>
          </a:p>
        </p:txBody>
      </p:sp>
      <p:sp>
        <p:nvSpPr>
          <p:cNvPr id="12" name="Shape 9"/>
          <p:cNvSpPr/>
          <p:nvPr/>
        </p:nvSpPr>
        <p:spPr>
          <a:xfrm>
            <a:off x="2944146" y="3130358"/>
            <a:ext cx="2160454" cy="428625"/>
          </a:xfrm>
          <a:prstGeom prst="rect">
            <a:avLst/>
          </a:prstGeom>
          <a:solidFill>
            <a:srgbClr val="1A1A1A"/>
          </a:solidFill>
          <a:ln/>
        </p:spPr>
      </p:sp>
      <p:sp>
        <p:nvSpPr>
          <p:cNvPr id="13" name="Shape 10"/>
          <p:cNvSpPr/>
          <p:nvPr/>
        </p:nvSpPr>
        <p:spPr>
          <a:xfrm>
            <a:off x="5090313" y="3130358"/>
            <a:ext cx="14288" cy="428625"/>
          </a:xfrm>
          <a:prstGeom prst="rect">
            <a:avLst/>
          </a:prstGeom>
          <a:solidFill>
            <a:srgbClr val="333333"/>
          </a:solidFill>
          <a:ln/>
        </p:spPr>
      </p:sp>
      <p:sp>
        <p:nvSpPr>
          <p:cNvPr id="14" name="Shape 11"/>
          <p:cNvSpPr/>
          <p:nvPr/>
        </p:nvSpPr>
        <p:spPr>
          <a:xfrm>
            <a:off x="2944146" y="3544695"/>
            <a:ext cx="2160454" cy="14288"/>
          </a:xfrm>
          <a:prstGeom prst="rect">
            <a:avLst/>
          </a:prstGeom>
          <a:solidFill>
            <a:srgbClr val="C9A646"/>
          </a:solidFill>
          <a:ln/>
        </p:spPr>
      </p:sp>
      <p:sp>
        <p:nvSpPr>
          <p:cNvPr id="15" name="Text 12"/>
          <p:cNvSpPr/>
          <p:nvPr/>
        </p:nvSpPr>
        <p:spPr>
          <a:xfrm>
            <a:off x="2944146" y="3130358"/>
            <a:ext cx="2160454" cy="428625"/>
          </a:xfrm>
          <a:prstGeom prst="rect">
            <a:avLst/>
          </a:prstGeom>
          <a:noFill/>
          <a:ln/>
        </p:spPr>
        <p:txBody>
          <a:bodyPr wrap="square" lIns="170053" tIns="127508" rIns="170053" bIns="127508" rtlCol="0" anchor="ctr">
            <a:spAutoFit/>
          </a:bodyPr>
          <a:lstStyle/>
          <a:p>
            <a:pPr algn="l" indent="0" marL="0">
              <a:buNone/>
            </a:pPr>
            <a:r>
              <a:rPr lang="en-US" sz="1200" b="1" dirty="0">
                <a:solidFill>
                  <a:srgbClr val="C9A646"/>
                </a:solidFill>
                <a:latin typeface="Inter Black" pitchFamily="34" charset="0"/>
                <a:ea typeface="Inter Black" pitchFamily="34" charset="-122"/>
                <a:cs typeface="Inter Black" pitchFamily="34" charset="-120"/>
              </a:rPr>
              <a:t>1-YEAR VALUE</a:t>
            </a:r>
            <a:endParaRPr lang="en-US" sz="1200" dirty="0"/>
          </a:p>
        </p:txBody>
      </p:sp>
      <p:sp>
        <p:nvSpPr>
          <p:cNvPr id="16" name="Shape 13"/>
          <p:cNvSpPr/>
          <p:nvPr/>
        </p:nvSpPr>
        <p:spPr>
          <a:xfrm>
            <a:off x="5104600" y="3130358"/>
            <a:ext cx="3467900" cy="428625"/>
          </a:xfrm>
          <a:prstGeom prst="rect">
            <a:avLst/>
          </a:prstGeom>
          <a:solidFill>
            <a:srgbClr val="1A1A1A"/>
          </a:solidFill>
          <a:ln/>
        </p:spPr>
      </p:sp>
      <p:sp>
        <p:nvSpPr>
          <p:cNvPr id="17" name="Shape 14"/>
          <p:cNvSpPr/>
          <p:nvPr/>
        </p:nvSpPr>
        <p:spPr>
          <a:xfrm>
            <a:off x="5104600" y="3544695"/>
            <a:ext cx="3467900" cy="14288"/>
          </a:xfrm>
          <a:prstGeom prst="rect">
            <a:avLst/>
          </a:prstGeom>
          <a:solidFill>
            <a:srgbClr val="C9A646"/>
          </a:solidFill>
          <a:ln/>
        </p:spPr>
      </p:sp>
      <p:sp>
        <p:nvSpPr>
          <p:cNvPr id="18" name="Text 15"/>
          <p:cNvSpPr/>
          <p:nvPr/>
        </p:nvSpPr>
        <p:spPr>
          <a:xfrm>
            <a:off x="5104600" y="3130358"/>
            <a:ext cx="3467900" cy="428625"/>
          </a:xfrm>
          <a:prstGeom prst="rect">
            <a:avLst/>
          </a:prstGeom>
          <a:noFill/>
          <a:ln/>
        </p:spPr>
        <p:txBody>
          <a:bodyPr wrap="square" lIns="170053" tIns="127508" rIns="170053" bIns="127508" rtlCol="0" anchor="ctr">
            <a:spAutoFit/>
          </a:bodyPr>
          <a:lstStyle/>
          <a:p>
            <a:pPr algn="l" indent="0" marL="0">
              <a:buNone/>
            </a:pPr>
            <a:r>
              <a:rPr lang="en-US" sz="1200" b="1" dirty="0">
                <a:solidFill>
                  <a:srgbClr val="C9A646"/>
                </a:solidFill>
                <a:latin typeface="Inter Black" pitchFamily="34" charset="0"/>
                <a:ea typeface="Inter Black" pitchFamily="34" charset="-122"/>
                <a:cs typeface="Inter Black" pitchFamily="34" charset="-120"/>
              </a:rPr>
              <a:t>10-YEAR VALUE</a:t>
            </a:r>
            <a:endParaRPr lang="en-US" sz="1200" dirty="0"/>
          </a:p>
        </p:txBody>
      </p:sp>
      <p:sp>
        <p:nvSpPr>
          <p:cNvPr id="19" name="Text 16"/>
          <p:cNvSpPr/>
          <p:nvPr/>
        </p:nvSpPr>
        <p:spPr>
          <a:xfrm>
            <a:off x="571500" y="3551839"/>
            <a:ext cx="2372646" cy="348258"/>
          </a:xfrm>
          <a:prstGeom prst="rect">
            <a:avLst/>
          </a:prstGeom>
          <a:noFill/>
          <a:ln/>
        </p:spPr>
        <p:txBody>
          <a:bodyPr wrap="square" lIns="170053" tIns="102108" rIns="170053" bIns="102108" rtlCol="0" anchor="ctr">
            <a:spAutoFit/>
          </a:bodyPr>
          <a:lstStyle/>
          <a:p>
            <a:pPr algn="l" indent="0" marL="0">
              <a:buNone/>
            </a:pPr>
            <a:r>
              <a:rPr lang="en-US" sz="1000" b="1" dirty="0">
                <a:solidFill>
                  <a:srgbClr val="C9A646"/>
                </a:solidFill>
                <a:latin typeface="Inter Bold" pitchFamily="34" charset="0"/>
                <a:ea typeface="Inter Bold" pitchFamily="34" charset="-122"/>
                <a:cs typeface="Inter Bold" pitchFamily="34" charset="-120"/>
              </a:rPr>
              <a:t>Documented Workflows</a:t>
            </a:r>
            <a:endParaRPr lang="en-US" sz="1000" dirty="0"/>
          </a:p>
        </p:txBody>
      </p:sp>
      <p:sp>
        <p:nvSpPr>
          <p:cNvPr id="20" name="Text 17"/>
          <p:cNvSpPr/>
          <p:nvPr/>
        </p:nvSpPr>
        <p:spPr>
          <a:xfrm>
            <a:off x="2944146" y="3551839"/>
            <a:ext cx="2160454" cy="348258"/>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Operational clarity</a:t>
            </a:r>
            <a:endParaRPr lang="en-US" sz="1050" dirty="0"/>
          </a:p>
        </p:txBody>
      </p:sp>
      <p:sp>
        <p:nvSpPr>
          <p:cNvPr id="21" name="Text 18"/>
          <p:cNvSpPr/>
          <p:nvPr/>
        </p:nvSpPr>
        <p:spPr>
          <a:xfrm>
            <a:off x="5104600" y="3551839"/>
            <a:ext cx="3467900" cy="348258"/>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Institutional standard</a:t>
            </a:r>
            <a:endParaRPr lang="en-US" sz="1050" dirty="0"/>
          </a:p>
        </p:txBody>
      </p:sp>
      <p:sp>
        <p:nvSpPr>
          <p:cNvPr id="22" name="Shape 19"/>
          <p:cNvSpPr/>
          <p:nvPr/>
        </p:nvSpPr>
        <p:spPr>
          <a:xfrm>
            <a:off x="571500" y="3900097"/>
            <a:ext cx="8001000" cy="351830"/>
          </a:xfrm>
          <a:prstGeom prst="rect">
            <a:avLst/>
          </a:prstGeom>
          <a:solidFill>
            <a:srgbClr val="0A0A0A"/>
          </a:solidFill>
          <a:ln/>
        </p:spPr>
      </p:sp>
      <p:sp>
        <p:nvSpPr>
          <p:cNvPr id="23" name="Text 20"/>
          <p:cNvSpPr/>
          <p:nvPr/>
        </p:nvSpPr>
        <p:spPr>
          <a:xfrm>
            <a:off x="571500" y="3900097"/>
            <a:ext cx="2372646" cy="351830"/>
          </a:xfrm>
          <a:prstGeom prst="rect">
            <a:avLst/>
          </a:prstGeom>
          <a:noFill/>
          <a:ln/>
        </p:spPr>
        <p:txBody>
          <a:bodyPr wrap="square" lIns="170053" tIns="102108" rIns="170053" bIns="102108" rtlCol="0" anchor="ctr">
            <a:spAutoFit/>
          </a:bodyPr>
          <a:lstStyle/>
          <a:p>
            <a:pPr algn="l" indent="0" marL="0">
              <a:buNone/>
            </a:pPr>
            <a:r>
              <a:rPr lang="en-US" sz="1000" b="1" dirty="0">
                <a:solidFill>
                  <a:srgbClr val="C9A646"/>
                </a:solidFill>
                <a:latin typeface="Inter Bold" pitchFamily="34" charset="0"/>
                <a:ea typeface="Inter Bold" pitchFamily="34" charset="-122"/>
                <a:cs typeface="Inter Bold" pitchFamily="34" charset="-120"/>
              </a:rPr>
              <a:t>Agent Prompts</a:t>
            </a:r>
            <a:endParaRPr lang="en-US" sz="1000" dirty="0"/>
          </a:p>
        </p:txBody>
      </p:sp>
      <p:sp>
        <p:nvSpPr>
          <p:cNvPr id="24" name="Text 21"/>
          <p:cNvSpPr/>
          <p:nvPr/>
        </p:nvSpPr>
        <p:spPr>
          <a:xfrm>
            <a:off x="2944146" y="3900097"/>
            <a:ext cx="2160454"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Immediate AI leverage</a:t>
            </a:r>
            <a:endParaRPr lang="en-US" sz="1050" dirty="0"/>
          </a:p>
        </p:txBody>
      </p:sp>
      <p:sp>
        <p:nvSpPr>
          <p:cNvPr id="25" name="Text 22"/>
          <p:cNvSpPr/>
          <p:nvPr/>
        </p:nvSpPr>
        <p:spPr>
          <a:xfrm>
            <a:off x="5104600" y="3900097"/>
            <a:ext cx="3467900"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Reusable across all future AI platforms</a:t>
            </a:r>
            <a:endParaRPr lang="en-US" sz="1050" dirty="0"/>
          </a:p>
        </p:txBody>
      </p:sp>
      <p:sp>
        <p:nvSpPr>
          <p:cNvPr id="26" name="Text 23"/>
          <p:cNvSpPr/>
          <p:nvPr/>
        </p:nvSpPr>
        <p:spPr>
          <a:xfrm>
            <a:off x="571500" y="4251927"/>
            <a:ext cx="2372646" cy="351830"/>
          </a:xfrm>
          <a:prstGeom prst="rect">
            <a:avLst/>
          </a:prstGeom>
          <a:noFill/>
          <a:ln/>
        </p:spPr>
        <p:txBody>
          <a:bodyPr wrap="square" lIns="170053" tIns="102108" rIns="170053" bIns="102108" rtlCol="0" anchor="ctr">
            <a:spAutoFit/>
          </a:bodyPr>
          <a:lstStyle/>
          <a:p>
            <a:pPr algn="l" indent="0" marL="0">
              <a:buNone/>
            </a:pPr>
            <a:r>
              <a:rPr lang="en-US" sz="1000" b="1" dirty="0">
                <a:solidFill>
                  <a:srgbClr val="C9A646"/>
                </a:solidFill>
                <a:latin typeface="Inter Bold" pitchFamily="34" charset="0"/>
                <a:ea typeface="Inter Bold" pitchFamily="34" charset="-122"/>
                <a:cs typeface="Inter Bold" pitchFamily="34" charset="-120"/>
              </a:rPr>
              <a:t>Recovery Playbooks</a:t>
            </a:r>
            <a:endParaRPr lang="en-US" sz="1000" dirty="0"/>
          </a:p>
        </p:txBody>
      </p:sp>
      <p:sp>
        <p:nvSpPr>
          <p:cNvPr id="27" name="Text 24"/>
          <p:cNvSpPr/>
          <p:nvPr/>
        </p:nvSpPr>
        <p:spPr>
          <a:xfrm>
            <a:off x="2944146" y="4251927"/>
            <a:ext cx="2160454"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Prevents downtime</a:t>
            </a:r>
            <a:endParaRPr lang="en-US" sz="1050" dirty="0"/>
          </a:p>
        </p:txBody>
      </p:sp>
      <p:sp>
        <p:nvSpPr>
          <p:cNvPr id="28" name="Text 25"/>
          <p:cNvSpPr/>
          <p:nvPr/>
        </p:nvSpPr>
        <p:spPr>
          <a:xfrm>
            <a:off x="5104600" y="4251927"/>
            <a:ext cx="3467900"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Trains future operators</a:t>
            </a:r>
            <a:endParaRPr lang="en-US" sz="1050" dirty="0"/>
          </a:p>
        </p:txBody>
      </p:sp>
      <p:sp>
        <p:nvSpPr>
          <p:cNvPr id="29" name="Shape 26"/>
          <p:cNvSpPr/>
          <p:nvPr/>
        </p:nvSpPr>
        <p:spPr>
          <a:xfrm>
            <a:off x="571500" y="4603756"/>
            <a:ext cx="8001000" cy="351830"/>
          </a:xfrm>
          <a:prstGeom prst="rect">
            <a:avLst/>
          </a:prstGeom>
          <a:solidFill>
            <a:srgbClr val="0A0A0A"/>
          </a:solidFill>
          <a:ln/>
        </p:spPr>
      </p:sp>
      <p:sp>
        <p:nvSpPr>
          <p:cNvPr id="30" name="Text 27"/>
          <p:cNvSpPr/>
          <p:nvPr/>
        </p:nvSpPr>
        <p:spPr>
          <a:xfrm>
            <a:off x="571500" y="4603756"/>
            <a:ext cx="2372646" cy="351830"/>
          </a:xfrm>
          <a:prstGeom prst="rect">
            <a:avLst/>
          </a:prstGeom>
          <a:noFill/>
          <a:ln/>
        </p:spPr>
        <p:txBody>
          <a:bodyPr wrap="square" lIns="170053" tIns="102108" rIns="170053" bIns="102108" rtlCol="0" anchor="ctr">
            <a:spAutoFit/>
          </a:bodyPr>
          <a:lstStyle/>
          <a:p>
            <a:pPr algn="l" indent="0" marL="0">
              <a:buNone/>
            </a:pPr>
            <a:r>
              <a:rPr lang="en-US" sz="1000" b="1" dirty="0">
                <a:solidFill>
                  <a:srgbClr val="C9A646"/>
                </a:solidFill>
                <a:latin typeface="Inter Bold" pitchFamily="34" charset="0"/>
                <a:ea typeface="Inter Bold" pitchFamily="34" charset="-122"/>
                <a:cs typeface="Inter Bold" pitchFamily="34" charset="-120"/>
              </a:rPr>
              <a:t>Gov Contracting Intel</a:t>
            </a:r>
            <a:endParaRPr lang="en-US" sz="1000" dirty="0"/>
          </a:p>
        </p:txBody>
      </p:sp>
      <p:sp>
        <p:nvSpPr>
          <p:cNvPr id="31" name="Text 28"/>
          <p:cNvSpPr/>
          <p:nvPr/>
        </p:nvSpPr>
        <p:spPr>
          <a:xfrm>
            <a:off x="2944146" y="4603756"/>
            <a:ext cx="2160454"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First bids</a:t>
            </a:r>
            <a:endParaRPr lang="en-US" sz="1050" dirty="0"/>
          </a:p>
        </p:txBody>
      </p:sp>
      <p:sp>
        <p:nvSpPr>
          <p:cNvPr id="32" name="Text 29"/>
          <p:cNvSpPr/>
          <p:nvPr/>
        </p:nvSpPr>
        <p:spPr>
          <a:xfrm>
            <a:off x="5104600" y="4603756"/>
            <a:ext cx="3467900" cy="351830"/>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Compounding bid win rate</a:t>
            </a:r>
            <a:endParaRPr lang="en-US" sz="1050" dirty="0"/>
          </a:p>
        </p:txBody>
      </p:sp>
      <p:sp>
        <p:nvSpPr>
          <p:cNvPr id="33" name="Text 30"/>
          <p:cNvSpPr/>
          <p:nvPr/>
        </p:nvSpPr>
        <p:spPr>
          <a:xfrm>
            <a:off x="571500" y="4955586"/>
            <a:ext cx="2372646" cy="348258"/>
          </a:xfrm>
          <a:prstGeom prst="rect">
            <a:avLst/>
          </a:prstGeom>
          <a:noFill/>
          <a:ln/>
        </p:spPr>
        <p:txBody>
          <a:bodyPr wrap="square" lIns="170053" tIns="102108" rIns="170053" bIns="102108" rtlCol="0" anchor="ctr">
            <a:spAutoFit/>
          </a:bodyPr>
          <a:lstStyle/>
          <a:p>
            <a:pPr algn="l" indent="0" marL="0">
              <a:buNone/>
            </a:pPr>
            <a:r>
              <a:rPr lang="en-US" sz="1000" b="1" dirty="0">
                <a:solidFill>
                  <a:srgbClr val="C9A646"/>
                </a:solidFill>
                <a:latin typeface="Inter Bold" pitchFamily="34" charset="0"/>
                <a:ea typeface="Inter Bold" pitchFamily="34" charset="-122"/>
                <a:cs typeface="Inter Bold" pitchFamily="34" charset="-120"/>
              </a:rPr>
              <a:t>Sovereign OS</a:t>
            </a:r>
            <a:endParaRPr lang="en-US" sz="1000" dirty="0"/>
          </a:p>
        </p:txBody>
      </p:sp>
      <p:sp>
        <p:nvSpPr>
          <p:cNvPr id="34" name="Text 31"/>
          <p:cNvSpPr/>
          <p:nvPr/>
        </p:nvSpPr>
        <p:spPr>
          <a:xfrm>
            <a:off x="2944146" y="4955586"/>
            <a:ext cx="2160454" cy="348258"/>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Daily discipline</a:t>
            </a:r>
            <a:endParaRPr lang="en-US" sz="1050" dirty="0"/>
          </a:p>
        </p:txBody>
      </p:sp>
      <p:sp>
        <p:nvSpPr>
          <p:cNvPr id="35" name="Text 32"/>
          <p:cNvSpPr/>
          <p:nvPr/>
        </p:nvSpPr>
        <p:spPr>
          <a:xfrm>
            <a:off x="5104600" y="4955586"/>
            <a:ext cx="3467900" cy="348258"/>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Inter" pitchFamily="34" charset="0"/>
                <a:ea typeface="Inter" pitchFamily="34" charset="-122"/>
                <a:cs typeface="Inter" pitchFamily="34" charset="-120"/>
              </a:rPr>
              <a:t>Scalable enterprise structure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937227"/>
          </a:xfrm>
          <a:prstGeom prst="rect">
            <a:avLst/>
          </a:prstGeom>
          <a:solidFill>
            <a:srgbClr val="000000">
              <a:alpha val="0"/>
            </a:srgbClr>
          </a:solidFill>
          <a:ln/>
        </p:spPr>
      </p:sp>
      <p:sp>
        <p:nvSpPr>
          <p:cNvPr id="4" name="Shape 1"/>
          <p:cNvSpPr/>
          <p:nvPr/>
        </p:nvSpPr>
        <p:spPr>
          <a:xfrm>
            <a:off x="571500" y="1337277"/>
            <a:ext cx="8001000" cy="28575"/>
          </a:xfrm>
          <a:prstGeom prst="rect">
            <a:avLst/>
          </a:prstGeom>
          <a:solidFill>
            <a:srgbClr val="C9A64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C9A646"/>
                </a:solidFill>
                <a:latin typeface="Inter Black" pitchFamily="34" charset="0"/>
                <a:ea typeface="Inter Black" pitchFamily="34" charset="-122"/>
                <a:cs typeface="Inter Black" pitchFamily="34" charset="-120"/>
              </a:rPr>
              <a:t>Three Execution Actions Required to Activate the Sovereign System</a:t>
            </a:r>
            <a:endParaRPr lang="en-US" sz="2450" dirty="0"/>
          </a:p>
        </p:txBody>
      </p:sp>
      <p:sp>
        <p:nvSpPr>
          <p:cNvPr id="6" name="Text 3"/>
          <p:cNvSpPr/>
          <p:nvPr/>
        </p:nvSpPr>
        <p:spPr>
          <a:xfrm>
            <a:off x="571500" y="1480152"/>
            <a:ext cx="8001000" cy="1028700"/>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E0E0E0"/>
                </a:solidFill>
                <a:latin typeface="Inter" pitchFamily="34" charset="0"/>
                <a:ea typeface="Inter" pitchFamily="34" charset="-122"/>
                <a:cs typeface="Inter" pitchFamily="34" charset="-120"/>
              </a:rPr>
              <a:t>The system is staged and ready. Three actions must be completed to bring it fully online. First, </a:t>
            </a:r>
            <a:r>
              <a:rPr lang="en-US" sz="1250" dirty="0">
                <a:solidFill>
                  <a:srgbClr val="E0E0E0"/>
                </a:solidFill>
                <a:latin typeface="Inter" pitchFamily="34" charset="0"/>
                <a:ea typeface="Inter" pitchFamily="34" charset="-122"/>
                <a:cs typeface="Inter" pitchFamily="34" charset="-120"/>
              </a:rPr>
              <a:t>review and merge Pull Request #26 on the </a:t>
            </a:r>
            <a:r>
              <a:rPr lang="en-US" sz="1200" b="1" dirty="0">
                <a:solidFill>
                  <a:srgbClr val="C9A646"/>
                </a:solidFill>
                <a:latin typeface="Inter Bold" pitchFamily="34" charset="0"/>
                <a:ea typeface="Inter Bold" pitchFamily="34" charset="-122"/>
                <a:cs typeface="Inter Bold" pitchFamily="34" charset="-120"/>
              </a:rPr>
              <a:t>arthurappling-ISE-DYNAMICE</a:t>
            </a:r>
            <a:r>
              <a:rPr lang="en-US" sz="1250" dirty="0">
                <a:solidFill>
                  <a:srgbClr val="E0E0E0"/>
                </a:solidFill>
                <a:latin typeface="Inter" pitchFamily="34" charset="0"/>
                <a:ea typeface="Inter" pitchFamily="34" charset="-122"/>
                <a:cs typeface="Inter" pitchFamily="34" charset="-120"/>
              </a:rPr>
              <a:t> GitHub repository. </a:t>
            </a:r>
            <a:r>
              <a:rPr lang="en-US" sz="1250" dirty="0">
                <a:solidFill>
                  <a:srgbClr val="E0E0E0"/>
                </a:solidFill>
                <a:latin typeface="Inter" pitchFamily="34" charset="0"/>
                <a:ea typeface="Inter" pitchFamily="34" charset="-122"/>
                <a:cs typeface="Inter" pitchFamily="34" charset="-120"/>
              </a:rPr>
              <a:t>Second, execute the five Agent Prompts sequentially. Third, activate the WF-05 Personal </a:t>
            </a:r>
            <a:r>
              <a:rPr lang="en-US" sz="1250" dirty="0">
                <a:solidFill>
                  <a:srgbClr val="E0E0E0"/>
                </a:solidFill>
                <a:latin typeface="Inter" pitchFamily="34" charset="0"/>
                <a:ea typeface="Inter" pitchFamily="34" charset="-122"/>
                <a:cs typeface="Inter" pitchFamily="34" charset="-120"/>
              </a:rPr>
              <a:t>Sovereign Operating System.</a:t>
            </a:r>
            <a:endParaRPr lang="en-US" sz="1250" dirty="0"/>
          </a:p>
        </p:txBody>
      </p:sp>
      <p:sp>
        <p:nvSpPr>
          <p:cNvPr id="7" name="Shape 4"/>
          <p:cNvSpPr/>
          <p:nvPr/>
        </p:nvSpPr>
        <p:spPr>
          <a:xfrm>
            <a:off x="571500" y="2594577"/>
            <a:ext cx="8001000" cy="694730"/>
          </a:xfrm>
          <a:prstGeom prst="rect">
            <a:avLst/>
          </a:prstGeom>
          <a:solidFill>
            <a:srgbClr val="111111"/>
          </a:solidFill>
          <a:ln w="18288">
            <a:solidFill>
              <a:srgbClr val="C9A646"/>
            </a:solidFill>
            <a:prstDash val="solid"/>
          </a:ln>
        </p:spPr>
      </p:sp>
      <p:sp>
        <p:nvSpPr>
          <p:cNvPr id="8" name="Shape 5"/>
          <p:cNvSpPr/>
          <p:nvPr/>
        </p:nvSpPr>
        <p:spPr>
          <a:xfrm>
            <a:off x="571500" y="2594577"/>
            <a:ext cx="714375" cy="666155"/>
          </a:xfrm>
          <a:prstGeom prst="rect">
            <a:avLst/>
          </a:prstGeom>
          <a:solidFill>
            <a:srgbClr val="C9A646"/>
          </a:solidFill>
          <a:ln/>
        </p:spPr>
      </p:sp>
      <p:sp>
        <p:nvSpPr>
          <p:cNvPr id="9" name="Text 6"/>
          <p:cNvSpPr/>
          <p:nvPr/>
        </p:nvSpPr>
        <p:spPr>
          <a:xfrm>
            <a:off x="571500" y="2594577"/>
            <a:ext cx="714375" cy="666155"/>
          </a:xfrm>
          <a:prstGeom prst="rect">
            <a:avLst/>
          </a:prstGeom>
          <a:noFill/>
          <a:ln/>
        </p:spPr>
        <p:txBody>
          <a:bodyPr wrap="none" lIns="0" tIns="0" rIns="0" bIns="0" rtlCol="0" anchor="ctr">
            <a:spAutoFit/>
          </a:bodyPr>
          <a:lstStyle/>
          <a:p>
            <a:pPr algn="ctr" indent="0" marL="0">
              <a:buNone/>
            </a:pPr>
            <a:r>
              <a:rPr lang="en-US" sz="2450" b="1" dirty="0">
                <a:solidFill>
                  <a:srgbClr val="0B0B0B"/>
                </a:solidFill>
                <a:latin typeface="Inter Black" pitchFamily="34" charset="0"/>
                <a:ea typeface="Inter Black" pitchFamily="34" charset="-122"/>
                <a:cs typeface="Inter Black" pitchFamily="34" charset="-120"/>
              </a:rPr>
              <a:t>01</a:t>
            </a:r>
            <a:endParaRPr lang="en-US" sz="2450" dirty="0"/>
          </a:p>
        </p:txBody>
      </p:sp>
      <p:sp>
        <p:nvSpPr>
          <p:cNvPr id="10" name="Text 7"/>
          <p:cNvSpPr/>
          <p:nvPr/>
        </p:nvSpPr>
        <p:spPr>
          <a:xfrm>
            <a:off x="1414463" y="2680302"/>
            <a:ext cx="4800600"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old" pitchFamily="34" charset="0"/>
                <a:ea typeface="Inter Bold" pitchFamily="34" charset="-122"/>
                <a:cs typeface="Inter Bold" pitchFamily="34" charset="-120"/>
              </a:rPr>
              <a:t>MERGE PR #26 ON GITHUB</a:t>
            </a:r>
            <a:endParaRPr lang="en-US" sz="1400" dirty="0"/>
          </a:p>
        </p:txBody>
      </p:sp>
      <p:sp>
        <p:nvSpPr>
          <p:cNvPr id="11" name="Text 8"/>
          <p:cNvSpPr/>
          <p:nvPr/>
        </p:nvSpPr>
        <p:spPr>
          <a:xfrm>
            <a:off x="1414463" y="2980339"/>
            <a:ext cx="48006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github.com → arthurappling-ISE-DYNAMICE → PR #26 → Merge</a:t>
            </a:r>
            <a:endParaRPr lang="en-US" sz="1050" dirty="0"/>
          </a:p>
        </p:txBody>
      </p:sp>
      <p:sp>
        <p:nvSpPr>
          <p:cNvPr id="12" name="Shape 9"/>
          <p:cNvSpPr/>
          <p:nvPr/>
        </p:nvSpPr>
        <p:spPr>
          <a:xfrm>
            <a:off x="571500" y="3317881"/>
            <a:ext cx="8001000" cy="694730"/>
          </a:xfrm>
          <a:prstGeom prst="rect">
            <a:avLst/>
          </a:prstGeom>
          <a:solidFill>
            <a:srgbClr val="111111"/>
          </a:solidFill>
          <a:ln w="18288">
            <a:solidFill>
              <a:srgbClr val="C9A646"/>
            </a:solidFill>
            <a:prstDash val="solid"/>
          </a:ln>
        </p:spPr>
      </p:sp>
      <p:sp>
        <p:nvSpPr>
          <p:cNvPr id="13" name="Shape 10"/>
          <p:cNvSpPr/>
          <p:nvPr/>
        </p:nvSpPr>
        <p:spPr>
          <a:xfrm>
            <a:off x="571500" y="3317881"/>
            <a:ext cx="714375" cy="666155"/>
          </a:xfrm>
          <a:prstGeom prst="rect">
            <a:avLst/>
          </a:prstGeom>
          <a:solidFill>
            <a:srgbClr val="C9A646"/>
          </a:solidFill>
          <a:ln/>
        </p:spPr>
      </p:sp>
      <p:sp>
        <p:nvSpPr>
          <p:cNvPr id="14" name="Text 11"/>
          <p:cNvSpPr/>
          <p:nvPr/>
        </p:nvSpPr>
        <p:spPr>
          <a:xfrm>
            <a:off x="571500" y="3317881"/>
            <a:ext cx="714375" cy="666155"/>
          </a:xfrm>
          <a:prstGeom prst="rect">
            <a:avLst/>
          </a:prstGeom>
          <a:noFill/>
          <a:ln/>
        </p:spPr>
        <p:txBody>
          <a:bodyPr wrap="none" lIns="0" tIns="0" rIns="0" bIns="0" rtlCol="0" anchor="ctr">
            <a:spAutoFit/>
          </a:bodyPr>
          <a:lstStyle/>
          <a:p>
            <a:pPr algn="ctr" indent="0" marL="0">
              <a:buNone/>
            </a:pPr>
            <a:r>
              <a:rPr lang="en-US" sz="2450" b="1" dirty="0">
                <a:solidFill>
                  <a:srgbClr val="0B0B0B"/>
                </a:solidFill>
                <a:latin typeface="Inter Black" pitchFamily="34" charset="0"/>
                <a:ea typeface="Inter Black" pitchFamily="34" charset="-122"/>
                <a:cs typeface="Inter Black" pitchFamily="34" charset="-120"/>
              </a:rPr>
              <a:t>02</a:t>
            </a:r>
            <a:endParaRPr lang="en-US" sz="2450" dirty="0"/>
          </a:p>
        </p:txBody>
      </p:sp>
      <p:sp>
        <p:nvSpPr>
          <p:cNvPr id="15" name="Text 12"/>
          <p:cNvSpPr/>
          <p:nvPr/>
        </p:nvSpPr>
        <p:spPr>
          <a:xfrm>
            <a:off x="1414463" y="3403606"/>
            <a:ext cx="5143500"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old" pitchFamily="34" charset="0"/>
                <a:ea typeface="Inter Bold" pitchFamily="34" charset="-122"/>
                <a:cs typeface="Inter Bold" pitchFamily="34" charset="-120"/>
              </a:rPr>
              <a:t>EXECUTE AGENT PROMPTS IN SEQUENCE</a:t>
            </a:r>
            <a:endParaRPr lang="en-US" sz="1400" dirty="0"/>
          </a:p>
        </p:txBody>
      </p:sp>
      <p:sp>
        <p:nvSpPr>
          <p:cNvPr id="16" name="Text 13"/>
          <p:cNvSpPr/>
          <p:nvPr/>
        </p:nvSpPr>
        <p:spPr>
          <a:xfrm>
            <a:off x="1414463" y="3703644"/>
            <a:ext cx="514350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Start with: agents/01_institutional_knowledge_vault_agent.md</a:t>
            </a:r>
            <a:endParaRPr lang="en-US" sz="1050" dirty="0"/>
          </a:p>
        </p:txBody>
      </p:sp>
      <p:sp>
        <p:nvSpPr>
          <p:cNvPr id="17" name="Shape 14"/>
          <p:cNvSpPr/>
          <p:nvPr/>
        </p:nvSpPr>
        <p:spPr>
          <a:xfrm>
            <a:off x="571500" y="4041186"/>
            <a:ext cx="8001000" cy="889397"/>
          </a:xfrm>
          <a:prstGeom prst="rect">
            <a:avLst/>
          </a:prstGeom>
          <a:solidFill>
            <a:srgbClr val="111111"/>
          </a:solidFill>
          <a:ln w="18288">
            <a:solidFill>
              <a:srgbClr val="C9A646"/>
            </a:solidFill>
            <a:prstDash val="solid"/>
          </a:ln>
        </p:spPr>
      </p:sp>
      <p:sp>
        <p:nvSpPr>
          <p:cNvPr id="18" name="Shape 15"/>
          <p:cNvSpPr/>
          <p:nvPr/>
        </p:nvSpPr>
        <p:spPr>
          <a:xfrm>
            <a:off x="571500" y="4041186"/>
            <a:ext cx="714375" cy="666155"/>
          </a:xfrm>
          <a:prstGeom prst="rect">
            <a:avLst/>
          </a:prstGeom>
          <a:solidFill>
            <a:srgbClr val="C9A646"/>
          </a:solidFill>
          <a:ln/>
        </p:spPr>
      </p:sp>
      <p:sp>
        <p:nvSpPr>
          <p:cNvPr id="19" name="Text 16"/>
          <p:cNvSpPr/>
          <p:nvPr/>
        </p:nvSpPr>
        <p:spPr>
          <a:xfrm>
            <a:off x="571500" y="4041186"/>
            <a:ext cx="714375" cy="666155"/>
          </a:xfrm>
          <a:prstGeom prst="rect">
            <a:avLst/>
          </a:prstGeom>
          <a:noFill/>
          <a:ln/>
        </p:spPr>
        <p:txBody>
          <a:bodyPr wrap="none" lIns="0" tIns="0" rIns="0" bIns="0" rtlCol="0" anchor="ctr">
            <a:spAutoFit/>
          </a:bodyPr>
          <a:lstStyle/>
          <a:p>
            <a:pPr algn="ctr" indent="0" marL="0">
              <a:buNone/>
            </a:pPr>
            <a:r>
              <a:rPr lang="en-US" sz="2450" b="1" dirty="0">
                <a:solidFill>
                  <a:srgbClr val="0B0B0B"/>
                </a:solidFill>
                <a:latin typeface="Inter Black" pitchFamily="34" charset="0"/>
                <a:ea typeface="Inter Black" pitchFamily="34" charset="-122"/>
                <a:cs typeface="Inter Black" pitchFamily="34" charset="-120"/>
              </a:rPr>
              <a:t>03</a:t>
            </a:r>
            <a:endParaRPr lang="en-US" sz="2450" dirty="0"/>
          </a:p>
        </p:txBody>
      </p:sp>
      <p:sp>
        <p:nvSpPr>
          <p:cNvPr id="20" name="Text 17"/>
          <p:cNvSpPr/>
          <p:nvPr/>
        </p:nvSpPr>
        <p:spPr>
          <a:xfrm>
            <a:off x="1414463" y="4126911"/>
            <a:ext cx="7029450"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Bold" pitchFamily="34" charset="0"/>
                <a:ea typeface="Inter Bold" pitchFamily="34" charset="-122"/>
                <a:cs typeface="Inter Bold" pitchFamily="34" charset="-120"/>
              </a:rPr>
              <a:t>ACTIVATE DAILY SOVEREIGN OS</a:t>
            </a:r>
            <a:endParaRPr lang="en-US" sz="1400" dirty="0"/>
          </a:p>
        </p:txBody>
      </p:sp>
      <p:sp>
        <p:nvSpPr>
          <p:cNvPr id="21" name="Text 18"/>
          <p:cNvSpPr/>
          <p:nvPr/>
        </p:nvSpPr>
        <p:spPr>
          <a:xfrm>
            <a:off x="1414463" y="4426948"/>
            <a:ext cx="7029450" cy="194667"/>
          </a:xfrm>
          <a:prstGeom prst="rect">
            <a:avLst/>
          </a:prstGeom>
          <a:noFill/>
          <a:ln/>
        </p:spPr>
        <p:txBody>
          <a:bodyPr wrap="square" lIns="0" tIns="0" rIns="0" bIns="0" rtlCol="0" anchor="t">
            <a:spAutoFit/>
          </a:bodyPr>
          <a:lstStyle/>
          <a:p>
            <a:pPr algn="l" indent="0" marL="0">
              <a:buNone/>
            </a:pPr>
            <a:r>
              <a:rPr lang="en-US" sz="1050" dirty="0">
                <a:solidFill>
                  <a:srgbClr val="A0A0A0"/>
                </a:solidFill>
                <a:latin typeface="monospace" pitchFamily="34" charset="0"/>
                <a:ea typeface="monospace" pitchFamily="34" charset="-122"/>
                <a:cs typeface="monospace" pitchFamily="34" charset="-120"/>
              </a:rPr>
              <a:t>Run: tools/execute_workflow.py workflows/05_personal_sovereign_operating_system.md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2026-05-24T21:07:08Z</dcterms:created>
  <dcterms:modified xsi:type="dcterms:W3CDTF">2026-05-24T21:07:08Z</dcterms:modified>
</cp:coreProperties>
</file>